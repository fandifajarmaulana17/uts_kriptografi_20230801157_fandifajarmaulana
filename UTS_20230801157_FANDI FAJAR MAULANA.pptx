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19"/>
  </p:notesMasterIdLst>
  <p:sldIdLst>
    <p:sldId id="256" r:id="rId3"/>
    <p:sldId id="258" r:id="rId4"/>
    <p:sldId id="259" r:id="rId5"/>
    <p:sldId id="278" r:id="rId6"/>
    <p:sldId id="279" r:id="rId7"/>
    <p:sldId id="277" r:id="rId8"/>
    <p:sldId id="262" r:id="rId9"/>
    <p:sldId id="269" r:id="rId10"/>
    <p:sldId id="271" r:id="rId11"/>
    <p:sldId id="272" r:id="rId12"/>
    <p:sldId id="274" r:id="rId13"/>
    <p:sldId id="280" r:id="rId14"/>
    <p:sldId id="281" r:id="rId15"/>
    <p:sldId id="282" r:id="rId16"/>
    <p:sldId id="283" r:id="rId17"/>
    <p:sldId id="284" r:id="rId18"/>
  </p:sldIdLst>
  <p:sldSz cx="9144000" cy="5143500" type="screen16x9"/>
  <p:notesSz cx="6858000" cy="9144000"/>
  <p:embeddedFontLs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Raleway" pitchFamily="2" charset="0"/>
      <p:regular r:id="rId24"/>
      <p:bold r:id="rId25"/>
      <p:italic r:id="rId26"/>
      <p:boldItalic r:id="rId27"/>
    </p:embeddedFont>
    <p:embeddedFont>
      <p:font typeface="Roboto Mono" panose="00000009000000000000" pitchFamily="49" charset="0"/>
      <p:regular r:id="rId28"/>
      <p:bold r:id="rId29"/>
      <p:italic r:id="rId30"/>
      <p:boldItalic r:id="rId31"/>
    </p:embeddedFont>
    <p:embeddedFont>
      <p:font typeface="VT323" panose="020B0604020202020204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FB6C0F-BC6F-445D-8BAC-9799035B48C9}">
  <a:tblStyle styleId="{2FFB6C0F-BC6F-445D-8BAC-9799035B48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78" d="100"/>
          <a:sy n="78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-58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36c95c0757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36c95c0757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36c95c0757_0_7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36c95c0757_0_7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36c95c0757_0_7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36c95c0757_0_7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0" name="Google Shape;10;p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805375" y="1317075"/>
            <a:ext cx="2831700" cy="26481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5" name="Google Shape;15;p2" title="Sin título-2.png"/>
          <p:cNvPicPr preferRelativeResize="0"/>
          <p:nvPr/>
        </p:nvPicPr>
        <p:blipFill rotWithShape="1">
          <a:blip r:embed="rId3">
            <a:alphaModFix/>
          </a:blip>
          <a:srcRect l="61982"/>
          <a:stretch/>
        </p:blipFill>
        <p:spPr>
          <a:xfrm>
            <a:off x="5805376" y="1051575"/>
            <a:ext cx="2831677" cy="265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28" name="Google Shape;28;p4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3540003" y="1330738"/>
            <a:ext cx="3941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3540003" y="3067776"/>
            <a:ext cx="3941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3540003" y="1827236"/>
            <a:ext cx="39414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3540003" y="3564275"/>
            <a:ext cx="39414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8" name="Google Shape;48;p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8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55" name="Google Shape;55;p8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8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60" name="Google Shape;60;p9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9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72" name="Google Shape;72;p1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"/>
          </p:nvPr>
        </p:nvSpPr>
        <p:spPr>
          <a:xfrm>
            <a:off x="1107250" y="1796625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2"/>
          </p:nvPr>
        </p:nvSpPr>
        <p:spPr>
          <a:xfrm>
            <a:off x="1107250" y="2442833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3"/>
          </p:nvPr>
        </p:nvSpPr>
        <p:spPr>
          <a:xfrm>
            <a:off x="1107250" y="3089042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4"/>
          </p:nvPr>
        </p:nvSpPr>
        <p:spPr>
          <a:xfrm>
            <a:off x="1107250" y="3735250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5"/>
          </p:nvPr>
        </p:nvSpPr>
        <p:spPr>
          <a:xfrm>
            <a:off x="4851600" y="1796625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6"/>
          </p:nvPr>
        </p:nvSpPr>
        <p:spPr>
          <a:xfrm>
            <a:off x="4851600" y="2442831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7"/>
          </p:nvPr>
        </p:nvSpPr>
        <p:spPr>
          <a:xfrm>
            <a:off x="4851600" y="3089037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8"/>
          </p:nvPr>
        </p:nvSpPr>
        <p:spPr>
          <a:xfrm>
            <a:off x="4851600" y="3735244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9" hasCustomPrompt="1"/>
          </p:nvPr>
        </p:nvSpPr>
        <p:spPr>
          <a:xfrm>
            <a:off x="341850" y="3849550"/>
            <a:ext cx="7653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3" hasCustomPrompt="1"/>
          </p:nvPr>
        </p:nvSpPr>
        <p:spPr>
          <a:xfrm>
            <a:off x="341850" y="2560850"/>
            <a:ext cx="7653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4" hasCustomPrompt="1"/>
          </p:nvPr>
        </p:nvSpPr>
        <p:spPr>
          <a:xfrm>
            <a:off x="342582" y="1916800"/>
            <a:ext cx="7641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5" hasCustomPrompt="1"/>
          </p:nvPr>
        </p:nvSpPr>
        <p:spPr>
          <a:xfrm>
            <a:off x="341850" y="3205200"/>
            <a:ext cx="7653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6" hasCustomPrompt="1"/>
          </p:nvPr>
        </p:nvSpPr>
        <p:spPr>
          <a:xfrm>
            <a:off x="3985789" y="2561048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7" hasCustomPrompt="1"/>
          </p:nvPr>
        </p:nvSpPr>
        <p:spPr>
          <a:xfrm>
            <a:off x="3985787" y="3205296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18" hasCustomPrompt="1"/>
          </p:nvPr>
        </p:nvSpPr>
        <p:spPr>
          <a:xfrm>
            <a:off x="3985789" y="3849544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9" hasCustomPrompt="1"/>
          </p:nvPr>
        </p:nvSpPr>
        <p:spPr>
          <a:xfrm>
            <a:off x="3985789" y="1916800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96" name="Google Shape;96;p13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1" name="Google Shape;101;p14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3789425" y="2229300"/>
            <a:ext cx="4940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>
            <a:spLocks noGrp="1"/>
          </p:cNvSpPr>
          <p:nvPr>
            <p:ph type="pic" idx="2"/>
          </p:nvPr>
        </p:nvSpPr>
        <p:spPr>
          <a:xfrm>
            <a:off x="522525" y="1195150"/>
            <a:ext cx="2947200" cy="334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07" name="Google Shape;107;p1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14" name="Google Shape;114;p1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2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53" name="Google Shape;153;p2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669775" y="1143000"/>
            <a:ext cx="3852300" cy="5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1"/>
          </p:nvPr>
        </p:nvSpPr>
        <p:spPr>
          <a:xfrm>
            <a:off x="669775" y="1850750"/>
            <a:ext cx="3683400" cy="9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7" name="Google Shape;157;p21" title="Sin título-9.png"/>
          <p:cNvPicPr preferRelativeResize="0"/>
          <p:nvPr/>
        </p:nvPicPr>
        <p:blipFill rotWithShape="1">
          <a:blip r:embed="rId4">
            <a:alphaModFix/>
          </a:blip>
          <a:srcRect l="19762" t="14675" r="19446" b="47106"/>
          <a:stretch/>
        </p:blipFill>
        <p:spPr>
          <a:xfrm>
            <a:off x="4549250" y="1778300"/>
            <a:ext cx="3953100" cy="24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4865450" y="2464525"/>
            <a:ext cx="33207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and includes icons,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000" b="1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1" name="Google Shape;161;p2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2_1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27"/>
          <p:cNvSpPr txBox="1">
            <a:spLocks noGrp="1"/>
          </p:cNvSpPr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74" name="Google Shape;174;p27"/>
          <p:cNvSpPr txBox="1">
            <a:spLocks noGrp="1"/>
          </p:cNvSpPr>
          <p:nvPr>
            <p:ph type="title" idx="2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3" r:id="rId12"/>
    <p:sldLayoutId id="2147483667" r:id="rId13"/>
    <p:sldLayoutId id="2147483668" r:id="rId14"/>
    <p:sldLayoutId id="2147483669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8" title="nature-landscape-with-vegetation-flora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7412" r="17412"/>
          <a:stretch/>
        </p:blipFill>
        <p:spPr>
          <a:xfrm>
            <a:off x="5838032" y="1349732"/>
            <a:ext cx="2831700" cy="2648100"/>
          </a:xfrm>
          <a:prstGeom prst="rect">
            <a:avLst/>
          </a:prstGeom>
        </p:spPr>
      </p:pic>
      <p:sp>
        <p:nvSpPr>
          <p:cNvPr id="180" name="Google Shape;180;p28"/>
          <p:cNvSpPr txBox="1">
            <a:spLocks noGrp="1"/>
          </p:cNvSpPr>
          <p:nvPr>
            <p:ph type="ctrTitle"/>
          </p:nvPr>
        </p:nvSpPr>
        <p:spPr>
          <a:xfrm>
            <a:off x="606800" y="849600"/>
            <a:ext cx="5060700" cy="12894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dirty="0" err="1"/>
              <a:t>Optimasi</a:t>
            </a:r>
            <a:r>
              <a:rPr lang="en-ID" sz="2400" dirty="0"/>
              <a:t> Waktu </a:t>
            </a:r>
            <a:r>
              <a:rPr lang="en-ID" sz="2400" dirty="0" err="1"/>
              <a:t>Antrian</a:t>
            </a:r>
            <a:r>
              <a:rPr lang="en-ID" sz="2400" dirty="0"/>
              <a:t> </a:t>
            </a:r>
            <a:r>
              <a:rPr lang="en-ID" sz="2400" dirty="0" err="1"/>
              <a:t>Pelayanan</a:t>
            </a:r>
            <a:r>
              <a:rPr lang="en-ID" sz="2400" dirty="0"/>
              <a:t> Publik</a:t>
            </a:r>
            <a:br>
              <a:rPr lang="en-ID" sz="2400" dirty="0"/>
            </a:br>
            <a:r>
              <a:rPr lang="en-ID" sz="2400" dirty="0" err="1"/>
              <a:t>Menggunakan</a:t>
            </a:r>
            <a:r>
              <a:rPr lang="en-ID" sz="2400" dirty="0"/>
              <a:t> </a:t>
            </a:r>
            <a:r>
              <a:rPr lang="en-ID" sz="2400" dirty="0" err="1"/>
              <a:t>Algoritma</a:t>
            </a:r>
            <a:r>
              <a:rPr lang="en-ID" sz="2400" dirty="0"/>
              <a:t> Priority Queue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Penerapan</a:t>
            </a:r>
            <a:r>
              <a:rPr lang="en-ID" sz="2400" dirty="0"/>
              <a:t> </a:t>
            </a:r>
            <a:r>
              <a:rPr lang="en-ID" sz="2400" dirty="0" err="1"/>
              <a:t>Kriptografi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Keamanan</a:t>
            </a:r>
            <a:r>
              <a:rPr lang="en-ID" sz="2400" dirty="0"/>
              <a:t> Data</a:t>
            </a:r>
            <a:endParaRPr sz="240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61CC98B-F2F8-4449-C5BD-6A8E38867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800" y="2383971"/>
            <a:ext cx="4351500" cy="693965"/>
          </a:xfrm>
        </p:spPr>
        <p:txBody>
          <a:bodyPr/>
          <a:lstStyle/>
          <a:p>
            <a:r>
              <a:rPr lang="en-US" dirty="0" err="1"/>
              <a:t>Disusun</a:t>
            </a:r>
            <a:r>
              <a:rPr lang="en-US" dirty="0"/>
              <a:t> oleh:</a:t>
            </a:r>
          </a:p>
          <a:p>
            <a:r>
              <a:rPr lang="en-US" dirty="0"/>
              <a:t>Fandi Fajar Maulana</a:t>
            </a:r>
          </a:p>
          <a:p>
            <a:r>
              <a:rPr lang="en-US" dirty="0"/>
              <a:t>20230801157</a:t>
            </a:r>
            <a:endParaRPr lang="en-ID" dirty="0"/>
          </a:p>
        </p:txBody>
      </p:sp>
      <p:sp>
        <p:nvSpPr>
          <p:cNvPr id="182" name="Google Shape;182;p28"/>
          <p:cNvSpPr txBox="1"/>
          <p:nvPr/>
        </p:nvSpPr>
        <p:spPr>
          <a:xfrm>
            <a:off x="435854" y="205291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Write your Name</a:t>
            </a:r>
            <a:endParaRPr sz="160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dirty="0"/>
              <a:t>Latar </a:t>
            </a:r>
            <a:r>
              <a:rPr lang="en-ID" dirty="0" err="1"/>
              <a:t>Belakang</a:t>
            </a:r>
            <a:endParaRPr b="0" dirty="0"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1"/>
          </p:nvPr>
        </p:nvSpPr>
        <p:spPr>
          <a:xfrm>
            <a:off x="1107249" y="1796625"/>
            <a:ext cx="7318293" cy="23345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dirty="0"/>
              <a:t>• </a:t>
            </a:r>
            <a:r>
              <a:rPr lang="en-ID" dirty="0" err="1"/>
              <a:t>Pelayanan</a:t>
            </a:r>
            <a:r>
              <a:rPr lang="en-ID" dirty="0"/>
              <a:t> </a:t>
            </a:r>
            <a:r>
              <a:rPr lang="en-ID" dirty="0" err="1"/>
              <a:t>publik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antrian</a:t>
            </a:r>
            <a:r>
              <a:rPr lang="en-ID" dirty="0"/>
              <a:t> </a:t>
            </a:r>
            <a:r>
              <a:rPr lang="en-ID" dirty="0" err="1"/>
              <a:t>panjang</a:t>
            </a:r>
            <a:r>
              <a:rPr lang="en-ID" dirty="0"/>
              <a:t>.</a:t>
            </a:r>
          </a:p>
          <a:p>
            <a:r>
              <a:rPr lang="en-ID" dirty="0"/>
              <a:t>•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puas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tunggu</a:t>
            </a:r>
            <a:r>
              <a:rPr lang="en-ID" dirty="0"/>
              <a:t> yang lama.</a:t>
            </a:r>
          </a:p>
          <a:p>
            <a:r>
              <a:rPr lang="en-ID" dirty="0"/>
              <a:t>•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dioptimalkan</a:t>
            </a:r>
            <a:r>
              <a:rPr lang="en-ID" dirty="0"/>
              <a:t> agar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efektif</a:t>
            </a:r>
            <a:r>
              <a:rPr lang="en-ID" dirty="0"/>
              <a:t> dan </a:t>
            </a:r>
            <a:r>
              <a:rPr lang="en-ID" dirty="0" err="1"/>
              <a:t>efisien</a:t>
            </a:r>
            <a:r>
              <a:rPr lang="en-ID" dirty="0"/>
              <a:t>.</a:t>
            </a:r>
          </a:p>
          <a:p>
            <a:r>
              <a:rPr lang="en-ID" dirty="0"/>
              <a:t>• </a:t>
            </a:r>
            <a:r>
              <a:rPr lang="en-ID" dirty="0" err="1"/>
              <a:t>Keamanan</a:t>
            </a:r>
            <a:r>
              <a:rPr lang="en-ID" dirty="0"/>
              <a:t> data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aspek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pelayanan</a:t>
            </a:r>
            <a:r>
              <a:rPr lang="en-ID" dirty="0"/>
              <a:t> digital.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1" title="fluffy-clouds-windy-sky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604" r="20610"/>
          <a:stretch/>
        </p:blipFill>
        <p:spPr>
          <a:xfrm>
            <a:off x="522525" y="1195150"/>
            <a:ext cx="2947200" cy="3341428"/>
          </a:xfrm>
          <a:prstGeom prst="rect">
            <a:avLst/>
          </a:prstGeom>
        </p:spPr>
      </p:pic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3789424" y="795800"/>
            <a:ext cx="4962689" cy="786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dirty="0" err="1"/>
              <a:t>Rumusan</a:t>
            </a:r>
            <a:r>
              <a:rPr lang="en-ID" dirty="0"/>
              <a:t> </a:t>
            </a:r>
            <a:r>
              <a:rPr lang="en-ID" dirty="0" err="1"/>
              <a:t>Masalah</a:t>
            </a:r>
            <a:endParaRPr dirty="0"/>
          </a:p>
        </p:txBody>
      </p:sp>
      <p:grpSp>
        <p:nvGrpSpPr>
          <p:cNvPr id="252" name="Google Shape;252;p31"/>
          <p:cNvGrpSpPr/>
          <p:nvPr/>
        </p:nvGrpSpPr>
        <p:grpSpPr>
          <a:xfrm>
            <a:off x="511225" y="947025"/>
            <a:ext cx="2971350" cy="265500"/>
            <a:chOff x="511225" y="947025"/>
            <a:chExt cx="2971350" cy="265500"/>
          </a:xfrm>
        </p:grpSpPr>
        <p:pic>
          <p:nvPicPr>
            <p:cNvPr id="253" name="Google Shape;253;p31" title="Sin título-2.png"/>
            <p:cNvPicPr preferRelativeResize="0"/>
            <p:nvPr/>
          </p:nvPicPr>
          <p:blipFill rotWithShape="1">
            <a:blip r:embed="rId4">
              <a:alphaModFix/>
            </a:blip>
            <a:srcRect l="60127"/>
            <a:stretch/>
          </p:blipFill>
          <p:spPr>
            <a:xfrm>
              <a:off x="51277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31" title="Sin título-2.png"/>
            <p:cNvPicPr preferRelativeResize="0"/>
            <p:nvPr/>
          </p:nvPicPr>
          <p:blipFill rotWithShape="1">
            <a:blip r:embed="rId4">
              <a:alphaModFix/>
            </a:blip>
            <a:srcRect l="60127"/>
            <a:stretch/>
          </p:blipFill>
          <p:spPr>
            <a:xfrm>
              <a:off x="51122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58EC7C-2CDC-4711-EEA2-5DFB5EB992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04508" y="1351342"/>
            <a:ext cx="562504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D" sz="1800" dirty="0"/>
              <a:t>1. </a:t>
            </a:r>
            <a:r>
              <a:rPr lang="en-ID" sz="1800" dirty="0" err="1"/>
              <a:t>Bagaimana</a:t>
            </a:r>
            <a:r>
              <a:rPr lang="en-ID" sz="1800" dirty="0"/>
              <a:t> </a:t>
            </a:r>
            <a:r>
              <a:rPr lang="en-ID" sz="1800" dirty="0" err="1"/>
              <a:t>mengoptimalkan</a:t>
            </a:r>
            <a:r>
              <a:rPr lang="en-ID" sz="1800" dirty="0"/>
              <a:t> </a:t>
            </a:r>
            <a:r>
              <a:rPr lang="en-ID" sz="1800" dirty="0" err="1"/>
              <a:t>waktu</a:t>
            </a:r>
            <a:r>
              <a:rPr lang="en-ID" sz="1800" dirty="0"/>
              <a:t> </a:t>
            </a:r>
            <a:r>
              <a:rPr lang="en-ID" sz="1800" dirty="0" err="1"/>
              <a:t>antrian</a:t>
            </a:r>
            <a:r>
              <a:rPr lang="en-ID" sz="1800" dirty="0"/>
              <a:t> </a:t>
            </a:r>
            <a:r>
              <a:rPr lang="en-ID" sz="1800" dirty="0" err="1"/>
              <a:t>pelayanan</a:t>
            </a:r>
            <a:r>
              <a:rPr lang="en-ID" sz="1800" dirty="0"/>
              <a:t> </a:t>
            </a:r>
            <a:r>
              <a:rPr lang="en-ID" sz="1800" dirty="0" err="1"/>
              <a:t>publik</a:t>
            </a:r>
            <a:r>
              <a:rPr lang="en-ID" sz="1800" dirty="0"/>
              <a:t>?</a:t>
            </a:r>
          </a:p>
          <a:p>
            <a:r>
              <a:rPr lang="en-ID" sz="1800" dirty="0"/>
              <a:t>2. </a:t>
            </a:r>
            <a:r>
              <a:rPr lang="en-ID" sz="1800" dirty="0" err="1"/>
              <a:t>Bagaimana</a:t>
            </a:r>
            <a:r>
              <a:rPr lang="en-ID" sz="1800" dirty="0"/>
              <a:t> </a:t>
            </a:r>
            <a:r>
              <a:rPr lang="en-ID" sz="1800" dirty="0" err="1"/>
              <a:t>menjaga</a:t>
            </a:r>
            <a:r>
              <a:rPr lang="en-ID" sz="1800" dirty="0"/>
              <a:t> </a:t>
            </a:r>
            <a:r>
              <a:rPr lang="en-ID" sz="1800" dirty="0" err="1"/>
              <a:t>keamanan</a:t>
            </a:r>
            <a:r>
              <a:rPr lang="en-ID" sz="1800" dirty="0"/>
              <a:t> data </a:t>
            </a:r>
            <a:r>
              <a:rPr lang="en-ID" sz="1800" dirty="0" err="1"/>
              <a:t>pengguna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sistem</a:t>
            </a:r>
            <a:r>
              <a:rPr lang="en-ID" sz="1800" dirty="0"/>
              <a:t>?</a:t>
            </a:r>
          </a:p>
          <a:p>
            <a:r>
              <a:rPr lang="en-ID" sz="1800" dirty="0"/>
              <a:t>3. </a:t>
            </a:r>
            <a:r>
              <a:rPr lang="en-ID" sz="1800" dirty="0" err="1"/>
              <a:t>Bagaimana</a:t>
            </a:r>
            <a:r>
              <a:rPr lang="en-ID" sz="1800" dirty="0"/>
              <a:t> </a:t>
            </a:r>
            <a:r>
              <a:rPr lang="en-ID" sz="1800" dirty="0" err="1"/>
              <a:t>mengintegrasikan</a:t>
            </a:r>
            <a:r>
              <a:rPr lang="en-ID" sz="1800" dirty="0"/>
              <a:t> Priority Queue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kriptografi</a:t>
            </a:r>
            <a:r>
              <a:rPr lang="en-ID" sz="1800" dirty="0"/>
              <a:t> AES?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5D8E-EB10-A0E3-CC8B-8F7521F8A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			Tujuan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76F8A-D022-E6EC-45EB-97D071DA6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9419" y="1856364"/>
            <a:ext cx="5188195" cy="2538900"/>
          </a:xfrm>
        </p:spPr>
        <p:txBody>
          <a:bodyPr/>
          <a:lstStyle/>
          <a:p>
            <a:r>
              <a:rPr lang="en-ID" sz="1800" dirty="0"/>
              <a:t>• </a:t>
            </a:r>
            <a:r>
              <a:rPr lang="en-ID" sz="1800" dirty="0" err="1"/>
              <a:t>Mengurangi</a:t>
            </a:r>
            <a:r>
              <a:rPr lang="en-ID" sz="1800" dirty="0"/>
              <a:t> </a:t>
            </a:r>
            <a:r>
              <a:rPr lang="en-ID" sz="1800" dirty="0" err="1"/>
              <a:t>waktu</a:t>
            </a:r>
            <a:r>
              <a:rPr lang="en-ID" sz="1800" dirty="0"/>
              <a:t> </a:t>
            </a:r>
            <a:r>
              <a:rPr lang="en-ID" sz="1800" dirty="0" err="1"/>
              <a:t>tunggu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antrian</a:t>
            </a:r>
            <a:r>
              <a:rPr lang="en-ID" sz="1800" dirty="0"/>
              <a:t>.</a:t>
            </a:r>
          </a:p>
          <a:p>
            <a:r>
              <a:rPr lang="en-ID" sz="1800" dirty="0"/>
              <a:t>• </a:t>
            </a:r>
            <a:r>
              <a:rPr lang="en-ID" sz="1800" dirty="0" err="1"/>
              <a:t>Menerapkan</a:t>
            </a:r>
            <a:r>
              <a:rPr lang="en-ID" sz="1800" dirty="0"/>
              <a:t> </a:t>
            </a:r>
            <a:r>
              <a:rPr lang="en-ID" sz="1800" dirty="0" err="1"/>
              <a:t>metode</a:t>
            </a:r>
            <a:r>
              <a:rPr lang="en-ID" sz="1800" dirty="0"/>
              <a:t> </a:t>
            </a:r>
            <a:r>
              <a:rPr lang="en-ID" sz="1800" dirty="0" err="1"/>
              <a:t>prioritas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pelayanan</a:t>
            </a:r>
            <a:r>
              <a:rPr lang="en-ID" sz="1800" dirty="0"/>
              <a:t>.</a:t>
            </a:r>
          </a:p>
          <a:p>
            <a:r>
              <a:rPr lang="en-ID" sz="1800" dirty="0"/>
              <a:t>• </a:t>
            </a:r>
            <a:r>
              <a:rPr lang="en-ID" sz="1800" dirty="0" err="1"/>
              <a:t>Menjamin</a:t>
            </a:r>
            <a:r>
              <a:rPr lang="en-ID" sz="1800" dirty="0"/>
              <a:t> </a:t>
            </a:r>
            <a:r>
              <a:rPr lang="en-ID" sz="1800" dirty="0" err="1"/>
              <a:t>keamanan</a:t>
            </a:r>
            <a:r>
              <a:rPr lang="en-ID" sz="1800" dirty="0"/>
              <a:t> data </a:t>
            </a:r>
            <a:r>
              <a:rPr lang="en-ID" sz="1800" dirty="0" err="1"/>
              <a:t>melalui</a:t>
            </a:r>
            <a:r>
              <a:rPr lang="en-ID" sz="1800" dirty="0"/>
              <a:t> </a:t>
            </a:r>
            <a:r>
              <a:rPr lang="en-ID" sz="1800" dirty="0" err="1"/>
              <a:t>enkripsi</a:t>
            </a:r>
            <a:r>
              <a:rPr lang="en-ID" sz="1800" dirty="0"/>
              <a:t> AES.</a:t>
            </a:r>
          </a:p>
        </p:txBody>
      </p:sp>
    </p:spTree>
    <p:extLst>
      <p:ext uri="{BB962C8B-B14F-4D97-AF65-F5344CB8AC3E}">
        <p14:creationId xmlns:p14="http://schemas.microsoft.com/office/powerpoint/2010/main" val="252874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7D8B7-8EE1-323A-65E2-963E17C05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4500" y="1650496"/>
            <a:ext cx="5453743" cy="1990775"/>
          </a:xfrm>
        </p:spPr>
        <p:txBody>
          <a:bodyPr/>
          <a:lstStyle/>
          <a:p>
            <a:r>
              <a:rPr lang="en-ID" sz="1800" dirty="0"/>
              <a:t>• </a:t>
            </a:r>
            <a:r>
              <a:rPr lang="en-ID" sz="1800" dirty="0" err="1"/>
              <a:t>Sistem</a:t>
            </a:r>
            <a:r>
              <a:rPr lang="en-ID" sz="1800" dirty="0"/>
              <a:t> </a:t>
            </a:r>
            <a:r>
              <a:rPr lang="en-ID" sz="1800" dirty="0" err="1"/>
              <a:t>antrian</a:t>
            </a:r>
            <a:r>
              <a:rPr lang="en-ID" sz="1800" dirty="0"/>
              <a:t> </a:t>
            </a:r>
            <a:r>
              <a:rPr lang="en-ID" sz="1800" dirty="0" err="1"/>
              <a:t>mengelola</a:t>
            </a:r>
            <a:r>
              <a:rPr lang="en-ID" sz="1800" dirty="0"/>
              <a:t> </a:t>
            </a:r>
            <a:r>
              <a:rPr lang="en-ID" sz="1800" dirty="0" err="1"/>
              <a:t>urutan</a:t>
            </a:r>
            <a:r>
              <a:rPr lang="en-ID" sz="1800" dirty="0"/>
              <a:t> </a:t>
            </a:r>
            <a:r>
              <a:rPr lang="en-ID" sz="1800" dirty="0" err="1"/>
              <a:t>pelayanan</a:t>
            </a:r>
            <a:r>
              <a:rPr lang="en-ID" sz="1800" dirty="0"/>
              <a:t>.</a:t>
            </a:r>
          </a:p>
          <a:p>
            <a:r>
              <a:rPr lang="en-ID" sz="1800" dirty="0"/>
              <a:t>• </a:t>
            </a:r>
            <a:r>
              <a:rPr lang="en-ID" sz="1800" dirty="0" err="1"/>
              <a:t>Umumnya</a:t>
            </a:r>
            <a:r>
              <a:rPr lang="en-ID" sz="1800" dirty="0"/>
              <a:t> </a:t>
            </a:r>
            <a:r>
              <a:rPr lang="en-ID" sz="1800" dirty="0" err="1"/>
              <a:t>menggunakan</a:t>
            </a:r>
            <a:r>
              <a:rPr lang="en-ID" sz="1800" dirty="0"/>
              <a:t> </a:t>
            </a:r>
            <a:r>
              <a:rPr lang="en-ID" sz="1800" dirty="0" err="1"/>
              <a:t>pendekatan</a:t>
            </a:r>
            <a:r>
              <a:rPr lang="en-ID" sz="1800" dirty="0"/>
              <a:t> FIFO.</a:t>
            </a:r>
          </a:p>
          <a:p>
            <a:r>
              <a:rPr lang="en-ID" sz="1800" dirty="0"/>
              <a:t>• Tidak </a:t>
            </a:r>
            <a:r>
              <a:rPr lang="en-ID" sz="1800" dirty="0" err="1"/>
              <a:t>mempertimbangkan</a:t>
            </a:r>
            <a:r>
              <a:rPr lang="en-ID" sz="1800" dirty="0"/>
              <a:t> </a:t>
            </a:r>
            <a:r>
              <a:rPr lang="en-ID" sz="1800" dirty="0" err="1"/>
              <a:t>kebutuhan</a:t>
            </a:r>
            <a:r>
              <a:rPr lang="en-ID" sz="1800" dirty="0"/>
              <a:t> </a:t>
            </a:r>
            <a:r>
              <a:rPr lang="en-ID" sz="1800" dirty="0" err="1"/>
              <a:t>prioritas</a:t>
            </a:r>
            <a:r>
              <a:rPr lang="en-ID" sz="1800" dirty="0"/>
              <a:t> </a:t>
            </a:r>
            <a:r>
              <a:rPr lang="en-ID" sz="1800" dirty="0" err="1"/>
              <a:t>pengguna</a:t>
            </a:r>
            <a:r>
              <a:rPr lang="en-ID" sz="1800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AE4F80-A289-9016-9F84-BBAAE66F9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40443"/>
            <a:ext cx="7702550" cy="573088"/>
          </a:xfrm>
        </p:spPr>
        <p:txBody>
          <a:bodyPr/>
          <a:lstStyle/>
          <a:p>
            <a:r>
              <a:rPr lang="en-ID" sz="2400" dirty="0" err="1"/>
              <a:t>Konsep</a:t>
            </a:r>
            <a:r>
              <a:rPr lang="en-ID" sz="2400" dirty="0"/>
              <a:t> </a:t>
            </a: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Antrian</a:t>
            </a:r>
            <a:r>
              <a:rPr lang="en-ID" sz="2400" dirty="0"/>
              <a:t> Publik</a:t>
            </a:r>
            <a:endParaRPr lang="en-ID" sz="2400" u="sng" dirty="0"/>
          </a:p>
        </p:txBody>
      </p:sp>
    </p:spTree>
    <p:extLst>
      <p:ext uri="{BB962C8B-B14F-4D97-AF65-F5344CB8AC3E}">
        <p14:creationId xmlns:p14="http://schemas.microsoft.com/office/powerpoint/2010/main" val="3754149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6DDE6-B721-FFAD-4F84-CC66AFF4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		</a:t>
            </a:r>
            <a:r>
              <a:rPr lang="en-ID" sz="2800" dirty="0"/>
              <a:t>Apa </a:t>
            </a:r>
            <a:r>
              <a:rPr lang="en-ID" sz="2800" dirty="0" err="1"/>
              <a:t>itu</a:t>
            </a:r>
            <a:r>
              <a:rPr lang="en-ID" sz="2800" dirty="0"/>
              <a:t> Priority Queue</a:t>
            </a:r>
            <a:r>
              <a:rPr lang="en-ID" sz="1800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19241-FA30-9A4C-23A2-8B8D0CB84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2700" y="1809925"/>
            <a:ext cx="6918600" cy="2538900"/>
          </a:xfrm>
        </p:spPr>
        <p:txBody>
          <a:bodyPr/>
          <a:lstStyle/>
          <a:p>
            <a:r>
              <a:rPr lang="en-ID" sz="1600" dirty="0"/>
              <a:t>• </a:t>
            </a:r>
            <a:r>
              <a:rPr lang="en-ID" sz="1600" dirty="0" err="1"/>
              <a:t>Struktur</a:t>
            </a:r>
            <a:r>
              <a:rPr lang="en-ID" sz="1600" dirty="0"/>
              <a:t> data yang </a:t>
            </a:r>
            <a:r>
              <a:rPr lang="en-ID" sz="1600" dirty="0" err="1"/>
              <a:t>memproses</a:t>
            </a:r>
            <a:r>
              <a:rPr lang="en-ID" sz="1600" dirty="0"/>
              <a:t> </a:t>
            </a:r>
            <a:r>
              <a:rPr lang="en-ID" sz="1600" dirty="0" err="1"/>
              <a:t>elemen</a:t>
            </a:r>
            <a:r>
              <a:rPr lang="en-ID" sz="1600" dirty="0"/>
              <a:t>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tingkat</a:t>
            </a:r>
            <a:r>
              <a:rPr lang="en-ID" sz="1600" dirty="0"/>
              <a:t> </a:t>
            </a:r>
            <a:r>
              <a:rPr lang="en-ID" sz="1600" dirty="0" err="1"/>
              <a:t>prioritas</a:t>
            </a:r>
            <a:r>
              <a:rPr lang="en-ID" sz="1600" dirty="0"/>
              <a:t>.</a:t>
            </a:r>
          </a:p>
          <a:p>
            <a:r>
              <a:rPr lang="en-ID" sz="1600" dirty="0"/>
              <a:t>• </a:t>
            </a:r>
            <a:r>
              <a:rPr lang="en-ID" sz="1600" dirty="0" err="1"/>
              <a:t>Elemen</a:t>
            </a:r>
            <a:r>
              <a:rPr lang="en-ID" sz="1600" dirty="0"/>
              <a:t> </a:t>
            </a:r>
            <a:r>
              <a:rPr lang="en-ID" sz="1600" dirty="0" err="1"/>
              <a:t>prioritas</a:t>
            </a:r>
            <a:r>
              <a:rPr lang="en-ID" sz="1600" dirty="0"/>
              <a:t> </a:t>
            </a:r>
            <a:r>
              <a:rPr lang="en-ID" sz="1600" dirty="0" err="1"/>
              <a:t>tertinggi</a:t>
            </a:r>
            <a:r>
              <a:rPr lang="en-ID" sz="1600" dirty="0"/>
              <a:t> </a:t>
            </a:r>
            <a:r>
              <a:rPr lang="en-ID" sz="1600" dirty="0" err="1"/>
              <a:t>diproses</a:t>
            </a:r>
            <a:r>
              <a:rPr lang="en-ID" sz="1600" dirty="0"/>
              <a:t> </a:t>
            </a:r>
            <a:r>
              <a:rPr lang="en-ID" sz="1600" dirty="0" err="1"/>
              <a:t>terlebih</a:t>
            </a:r>
            <a:r>
              <a:rPr lang="en-ID" sz="1600" dirty="0"/>
              <a:t> </a:t>
            </a:r>
            <a:r>
              <a:rPr lang="en-ID" sz="1600" dirty="0" err="1"/>
              <a:t>dahulu</a:t>
            </a:r>
            <a:r>
              <a:rPr lang="en-ID" sz="1600" dirty="0"/>
              <a:t>.</a:t>
            </a:r>
          </a:p>
          <a:p>
            <a:r>
              <a:rPr lang="en-ID" sz="1600" dirty="0"/>
              <a:t>• </a:t>
            </a:r>
            <a:r>
              <a:rPr lang="en-ID" sz="1600" dirty="0" err="1"/>
              <a:t>Cocok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layanan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kebutuhan</a:t>
            </a:r>
            <a:r>
              <a:rPr lang="en-ID" sz="1600" dirty="0"/>
              <a:t> </a:t>
            </a:r>
            <a:r>
              <a:rPr lang="en-ID" sz="1600" dirty="0" err="1"/>
              <a:t>prioritas</a:t>
            </a:r>
            <a:r>
              <a:rPr lang="en-ID" sz="1600" dirty="0"/>
              <a:t> </a:t>
            </a:r>
            <a:r>
              <a:rPr lang="en-ID" sz="1600" dirty="0" err="1"/>
              <a:t>berbeda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3240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	</a:t>
            </a:r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Penerapan</a:t>
            </a:r>
            <a:r>
              <a:rPr lang="en-ID" dirty="0"/>
              <a:t> Priority Queue</a:t>
            </a:r>
            <a:endParaRPr dirty="0"/>
          </a:p>
        </p:txBody>
      </p:sp>
      <p:sp>
        <p:nvSpPr>
          <p:cNvPr id="277" name="Google Shape;277;p34"/>
          <p:cNvSpPr txBox="1">
            <a:spLocks noGrp="1"/>
          </p:cNvSpPr>
          <p:nvPr>
            <p:ph type="subTitle" idx="3"/>
          </p:nvPr>
        </p:nvSpPr>
        <p:spPr>
          <a:xfrm>
            <a:off x="653143" y="1737429"/>
            <a:ext cx="7772400" cy="1903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1800" dirty="0"/>
              <a:t>• </a:t>
            </a:r>
            <a:r>
              <a:rPr lang="en-ID" sz="1800" dirty="0" err="1"/>
              <a:t>Lansia</a:t>
            </a:r>
            <a:r>
              <a:rPr lang="en-ID" sz="1800" dirty="0"/>
              <a:t> dan </a:t>
            </a:r>
            <a:r>
              <a:rPr lang="en-ID" sz="1800" dirty="0" err="1"/>
              <a:t>disabilitas</a:t>
            </a:r>
            <a:r>
              <a:rPr lang="en-ID" sz="1800" dirty="0"/>
              <a:t> </a:t>
            </a:r>
            <a:r>
              <a:rPr lang="en-ID" sz="1800" dirty="0" err="1"/>
              <a:t>mendapat</a:t>
            </a:r>
            <a:r>
              <a:rPr lang="en-ID" sz="1800" dirty="0"/>
              <a:t> </a:t>
            </a:r>
            <a:r>
              <a:rPr lang="en-ID" sz="1800" dirty="0" err="1"/>
              <a:t>prioritas</a:t>
            </a:r>
            <a:r>
              <a:rPr lang="en-ID" sz="1800" dirty="0"/>
              <a:t>.</a:t>
            </a:r>
          </a:p>
          <a:p>
            <a:r>
              <a:rPr lang="en-ID" sz="1800" dirty="0"/>
              <a:t>• Kasus </a:t>
            </a:r>
            <a:r>
              <a:rPr lang="en-ID" sz="1800" dirty="0" err="1"/>
              <a:t>darurat</a:t>
            </a:r>
            <a:r>
              <a:rPr lang="en-ID" sz="1800" dirty="0"/>
              <a:t> </a:t>
            </a:r>
            <a:r>
              <a:rPr lang="en-ID" sz="1800" dirty="0" err="1"/>
              <a:t>dilayani</a:t>
            </a:r>
            <a:r>
              <a:rPr lang="en-ID" sz="1800" dirty="0"/>
              <a:t> </a:t>
            </a:r>
            <a:r>
              <a:rPr lang="en-ID" sz="1800" dirty="0" err="1"/>
              <a:t>terlebih</a:t>
            </a:r>
            <a:r>
              <a:rPr lang="en-ID" sz="1800" dirty="0"/>
              <a:t> </a:t>
            </a:r>
            <a:r>
              <a:rPr lang="en-ID" sz="1800" dirty="0" err="1"/>
              <a:t>dahulu</a:t>
            </a:r>
            <a:r>
              <a:rPr lang="en-ID" sz="1800" dirty="0"/>
              <a:t>.</a:t>
            </a:r>
          </a:p>
          <a:p>
            <a:r>
              <a:rPr lang="en-ID" sz="1800" dirty="0"/>
              <a:t>• </a:t>
            </a:r>
            <a:r>
              <a:rPr lang="en-ID" sz="1800" dirty="0" err="1"/>
              <a:t>Pelayanan</a:t>
            </a:r>
            <a:r>
              <a:rPr lang="en-ID" sz="1800" dirty="0"/>
              <a:t> premium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diberi</a:t>
            </a:r>
            <a:r>
              <a:rPr lang="en-ID" sz="1800" dirty="0"/>
              <a:t> </a:t>
            </a:r>
            <a:r>
              <a:rPr lang="en-ID" sz="1800" dirty="0" err="1"/>
              <a:t>prioritas</a:t>
            </a:r>
            <a:r>
              <a:rPr lang="en-ID" sz="1800" dirty="0"/>
              <a:t> </a:t>
            </a:r>
            <a:r>
              <a:rPr lang="en-ID" sz="1800" dirty="0" err="1"/>
              <a:t>khusus</a:t>
            </a:r>
            <a:r>
              <a:rPr lang="en-ID" sz="18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>
            <a:spLocks noGrp="1"/>
          </p:cNvSpPr>
          <p:nvPr>
            <p:ph type="title"/>
          </p:nvPr>
        </p:nvSpPr>
        <p:spPr>
          <a:xfrm>
            <a:off x="669775" y="1143000"/>
            <a:ext cx="3852300" cy="5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D" sz="2800" dirty="0" err="1"/>
              <a:t>Algoritma</a:t>
            </a:r>
            <a:r>
              <a:rPr lang="en-ID" sz="2800" dirty="0"/>
              <a:t> Priority Queue</a:t>
            </a:r>
            <a:endParaRPr sz="2800" dirty="0"/>
          </a:p>
        </p:txBody>
      </p:sp>
      <p:sp>
        <p:nvSpPr>
          <p:cNvPr id="373" name="Google Shape;373;p41"/>
          <p:cNvSpPr txBox="1">
            <a:spLocks noGrp="1"/>
          </p:cNvSpPr>
          <p:nvPr>
            <p:ph type="subTitle" idx="1"/>
          </p:nvPr>
        </p:nvSpPr>
        <p:spPr>
          <a:xfrm>
            <a:off x="146958" y="1850749"/>
            <a:ext cx="4286249" cy="21497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1600" dirty="0"/>
              <a:t>1. </a:t>
            </a:r>
            <a:r>
              <a:rPr lang="en-ID" sz="1600" dirty="0" err="1"/>
              <a:t>Sistem</a:t>
            </a:r>
            <a:r>
              <a:rPr lang="en-ID" sz="1600" dirty="0"/>
              <a:t> </a:t>
            </a:r>
            <a:r>
              <a:rPr lang="en-ID" sz="1600" dirty="0" err="1"/>
              <a:t>menerima</a:t>
            </a:r>
            <a:r>
              <a:rPr lang="en-ID" sz="1600" dirty="0"/>
              <a:t> data </a:t>
            </a:r>
            <a:r>
              <a:rPr lang="en-ID" sz="1600" dirty="0" err="1"/>
              <a:t>pengguna</a:t>
            </a:r>
            <a:r>
              <a:rPr lang="en-ID" sz="1600" dirty="0"/>
              <a:t>.</a:t>
            </a:r>
          </a:p>
          <a:p>
            <a:r>
              <a:rPr lang="en-ID" sz="1600" dirty="0"/>
              <a:t>2. </a:t>
            </a:r>
            <a:r>
              <a:rPr lang="en-ID" sz="1600" dirty="0" err="1"/>
              <a:t>Sistem</a:t>
            </a:r>
            <a:r>
              <a:rPr lang="en-ID" sz="1600" dirty="0"/>
              <a:t> </a:t>
            </a:r>
            <a:r>
              <a:rPr lang="en-ID" sz="1600" dirty="0" err="1"/>
              <a:t>menetapkan</a:t>
            </a:r>
            <a:r>
              <a:rPr lang="en-ID" sz="1600" dirty="0"/>
              <a:t> </a:t>
            </a:r>
            <a:r>
              <a:rPr lang="en-ID" sz="1600" dirty="0" err="1"/>
              <a:t>prioritas</a:t>
            </a:r>
            <a:r>
              <a:rPr lang="en-ID" sz="1600" dirty="0"/>
              <a:t>.</a:t>
            </a:r>
          </a:p>
          <a:p>
            <a:r>
              <a:rPr lang="en-ID" sz="1600" dirty="0"/>
              <a:t>3. </a:t>
            </a:r>
            <a:r>
              <a:rPr lang="en-ID" sz="1600" dirty="0" err="1"/>
              <a:t>Antrian</a:t>
            </a:r>
            <a:r>
              <a:rPr lang="en-ID" sz="1600" dirty="0"/>
              <a:t> </a:t>
            </a:r>
            <a:r>
              <a:rPr lang="en-ID" sz="1600" dirty="0" err="1"/>
              <a:t>diurutkan</a:t>
            </a:r>
            <a:r>
              <a:rPr lang="en-ID" sz="1600" dirty="0"/>
              <a:t>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prioritas</a:t>
            </a:r>
            <a:r>
              <a:rPr lang="en-ID" sz="1600" dirty="0"/>
              <a:t>.</a:t>
            </a:r>
          </a:p>
          <a:p>
            <a:r>
              <a:rPr lang="en-ID" sz="1600" dirty="0"/>
              <a:t>4. </a:t>
            </a:r>
            <a:r>
              <a:rPr lang="en-ID" sz="1600" dirty="0" err="1"/>
              <a:t>Pengguna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prioritas</a:t>
            </a:r>
            <a:r>
              <a:rPr lang="en-ID" sz="1600" dirty="0"/>
              <a:t> </a:t>
            </a:r>
            <a:r>
              <a:rPr lang="en-ID" sz="1600" dirty="0" err="1"/>
              <a:t>tertinggi</a:t>
            </a:r>
            <a:r>
              <a:rPr lang="en-ID" sz="1600" dirty="0"/>
              <a:t> </a:t>
            </a:r>
            <a:r>
              <a:rPr lang="en-ID" sz="1600" dirty="0" err="1"/>
              <a:t>dilayani</a:t>
            </a:r>
            <a:r>
              <a:rPr lang="en-ID" sz="1600" dirty="0"/>
              <a:t> </a:t>
            </a:r>
            <a:r>
              <a:rPr lang="en-ID" sz="1600" dirty="0" err="1"/>
              <a:t>terlebih</a:t>
            </a:r>
            <a:r>
              <a:rPr lang="en-ID" sz="1600" dirty="0"/>
              <a:t> </a:t>
            </a:r>
            <a:r>
              <a:rPr lang="en-ID" sz="1600" dirty="0" err="1"/>
              <a:t>dahulu</a:t>
            </a:r>
            <a:r>
              <a:rPr lang="en-ID" sz="1600" dirty="0"/>
              <a:t>.</a:t>
            </a:r>
          </a:p>
        </p:txBody>
      </p:sp>
      <p:grpSp>
        <p:nvGrpSpPr>
          <p:cNvPr id="375" name="Google Shape;375;p41"/>
          <p:cNvGrpSpPr/>
          <p:nvPr/>
        </p:nvGrpSpPr>
        <p:grpSpPr>
          <a:xfrm>
            <a:off x="7196367" y="1062541"/>
            <a:ext cx="437400" cy="437400"/>
            <a:chOff x="786300" y="3047287"/>
            <a:chExt cx="437400" cy="437400"/>
          </a:xfrm>
        </p:grpSpPr>
        <p:sp>
          <p:nvSpPr>
            <p:cNvPr id="376" name="Google Shape;376;p41"/>
            <p:cNvSpPr/>
            <p:nvPr/>
          </p:nvSpPr>
          <p:spPr>
            <a:xfrm>
              <a:off x="786300" y="3047287"/>
              <a:ext cx="437400" cy="437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7" name="Google Shape;377;p41"/>
            <p:cNvGrpSpPr/>
            <p:nvPr/>
          </p:nvGrpSpPr>
          <p:grpSpPr>
            <a:xfrm>
              <a:off x="873449" y="3126785"/>
              <a:ext cx="276012" cy="275991"/>
              <a:chOff x="3368074" y="3882537"/>
              <a:chExt cx="215298" cy="215298"/>
            </a:xfrm>
          </p:grpSpPr>
          <p:sp>
            <p:nvSpPr>
              <p:cNvPr id="378" name="Google Shape;378;p41"/>
              <p:cNvSpPr/>
              <p:nvPr/>
            </p:nvSpPr>
            <p:spPr>
              <a:xfrm>
                <a:off x="3368074" y="3882537"/>
                <a:ext cx="215298" cy="215298"/>
              </a:xfrm>
              <a:custGeom>
                <a:avLst/>
                <a:gdLst/>
                <a:ahLst/>
                <a:cxnLst/>
                <a:rect l="l" t="t" r="r" b="b"/>
                <a:pathLst>
                  <a:path w="6764" h="6764" extrusionOk="0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41"/>
              <p:cNvSpPr/>
              <p:nvPr/>
            </p:nvSpPr>
            <p:spPr>
              <a:xfrm>
                <a:off x="3418143" y="3933656"/>
                <a:ext cx="114811" cy="112742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3542" extrusionOk="0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41"/>
              <p:cNvSpPr/>
              <p:nvPr/>
            </p:nvSpPr>
            <p:spPr>
              <a:xfrm>
                <a:off x="3519298" y="3910197"/>
                <a:ext cx="29570" cy="29220"/>
              </a:xfrm>
              <a:custGeom>
                <a:avLst/>
                <a:gdLst/>
                <a:ahLst/>
                <a:cxnLst/>
                <a:rect l="l" t="t" r="r" b="b"/>
                <a:pathLst>
                  <a:path w="929" h="918" extrusionOk="0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1" name="Google Shape;381;p41"/>
          <p:cNvGrpSpPr/>
          <p:nvPr/>
        </p:nvGrpSpPr>
        <p:grpSpPr>
          <a:xfrm>
            <a:off x="7758557" y="1062541"/>
            <a:ext cx="437400" cy="437400"/>
            <a:chOff x="1358800" y="3047287"/>
            <a:chExt cx="437400" cy="437400"/>
          </a:xfrm>
        </p:grpSpPr>
        <p:sp>
          <p:nvSpPr>
            <p:cNvPr id="382" name="Google Shape;382;p41"/>
            <p:cNvSpPr/>
            <p:nvPr/>
          </p:nvSpPr>
          <p:spPr>
            <a:xfrm>
              <a:off x="1358800" y="3047287"/>
              <a:ext cx="437400" cy="437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83" name="Google Shape;383;p41"/>
            <p:cNvGrpSpPr/>
            <p:nvPr/>
          </p:nvGrpSpPr>
          <p:grpSpPr>
            <a:xfrm>
              <a:off x="1444117" y="3145493"/>
              <a:ext cx="266788" cy="238574"/>
              <a:chOff x="3824739" y="3890112"/>
              <a:chExt cx="208103" cy="186110"/>
            </a:xfrm>
          </p:grpSpPr>
          <p:sp>
            <p:nvSpPr>
              <p:cNvPr id="384" name="Google Shape;384;p41"/>
              <p:cNvSpPr/>
              <p:nvPr/>
            </p:nvSpPr>
            <p:spPr>
              <a:xfrm>
                <a:off x="3831933" y="3955682"/>
                <a:ext cx="47809" cy="120540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3787" extrusionOk="0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41"/>
              <p:cNvSpPr/>
              <p:nvPr/>
            </p:nvSpPr>
            <p:spPr>
              <a:xfrm>
                <a:off x="3824739" y="3890112"/>
                <a:ext cx="55002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1728" extrusionOk="0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41"/>
              <p:cNvSpPr/>
              <p:nvPr/>
            </p:nvSpPr>
            <p:spPr>
              <a:xfrm>
                <a:off x="3904694" y="3955680"/>
                <a:ext cx="128148" cy="120540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3787" extrusionOk="0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7" name="Google Shape;387;p41"/>
          <p:cNvGrpSpPr/>
          <p:nvPr/>
        </p:nvGrpSpPr>
        <p:grpSpPr>
          <a:xfrm>
            <a:off x="8255525" y="1062541"/>
            <a:ext cx="437400" cy="437400"/>
            <a:chOff x="2005550" y="3047287"/>
            <a:chExt cx="437400" cy="437400"/>
          </a:xfrm>
        </p:grpSpPr>
        <p:sp>
          <p:nvSpPr>
            <p:cNvPr id="388" name="Google Shape;388;p41"/>
            <p:cNvSpPr/>
            <p:nvPr/>
          </p:nvSpPr>
          <p:spPr>
            <a:xfrm>
              <a:off x="2005550" y="3047287"/>
              <a:ext cx="437400" cy="437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" name="Google Shape;389;p41"/>
            <p:cNvSpPr/>
            <p:nvPr/>
          </p:nvSpPr>
          <p:spPr>
            <a:xfrm>
              <a:off x="2124686" y="3163027"/>
              <a:ext cx="199128" cy="203499"/>
            </a:xfrm>
            <a:custGeom>
              <a:avLst/>
              <a:gdLst/>
              <a:ahLst/>
              <a:cxnLst/>
              <a:rect l="l" t="t" r="r" b="b"/>
              <a:pathLst>
                <a:path w="494728" h="505587" extrusionOk="0">
                  <a:moveTo>
                    <a:pt x="294418" y="214122"/>
                  </a:moveTo>
                  <a:lnTo>
                    <a:pt x="478631" y="0"/>
                  </a:lnTo>
                  <a:lnTo>
                    <a:pt x="435007" y="0"/>
                  </a:lnTo>
                  <a:lnTo>
                    <a:pt x="275082" y="185928"/>
                  </a:lnTo>
                  <a:lnTo>
                    <a:pt x="147352" y="0"/>
                  </a:lnTo>
                  <a:lnTo>
                    <a:pt x="0" y="0"/>
                  </a:lnTo>
                  <a:lnTo>
                    <a:pt x="193167" y="281083"/>
                  </a:lnTo>
                  <a:lnTo>
                    <a:pt x="0" y="505587"/>
                  </a:lnTo>
                  <a:lnTo>
                    <a:pt x="43625" y="505587"/>
                  </a:lnTo>
                  <a:lnTo>
                    <a:pt x="212503" y="309277"/>
                  </a:lnTo>
                  <a:lnTo>
                    <a:pt x="347377" y="505587"/>
                  </a:lnTo>
                  <a:lnTo>
                    <a:pt x="494729" y="505587"/>
                  </a:lnTo>
                  <a:lnTo>
                    <a:pt x="294418" y="214027"/>
                  </a:lnTo>
                  <a:lnTo>
                    <a:pt x="294418" y="214027"/>
                  </a:lnTo>
                  <a:close/>
                  <a:moveTo>
                    <a:pt x="234601" y="283655"/>
                  </a:moveTo>
                  <a:lnTo>
                    <a:pt x="215075" y="255651"/>
                  </a:lnTo>
                  <a:lnTo>
                    <a:pt x="59341" y="32861"/>
                  </a:lnTo>
                  <a:lnTo>
                    <a:pt x="126397" y="32861"/>
                  </a:lnTo>
                  <a:lnTo>
                    <a:pt x="252032" y="212598"/>
                  </a:lnTo>
                  <a:lnTo>
                    <a:pt x="271558" y="240601"/>
                  </a:lnTo>
                  <a:lnTo>
                    <a:pt x="434912" y="474250"/>
                  </a:lnTo>
                  <a:lnTo>
                    <a:pt x="367855" y="474250"/>
                  </a:lnTo>
                  <a:lnTo>
                    <a:pt x="234505" y="283559"/>
                  </a:lnTo>
                  <a:lnTo>
                    <a:pt x="234505" y="2835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41"/>
          <p:cNvSpPr txBox="1"/>
          <p:nvPr/>
        </p:nvSpPr>
        <p:spPr>
          <a:xfrm>
            <a:off x="341850" y="205291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Write your Name</a:t>
            </a:r>
            <a:endParaRPr sz="160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43"/>
          <p:cNvGrpSpPr/>
          <p:nvPr/>
        </p:nvGrpSpPr>
        <p:grpSpPr>
          <a:xfrm>
            <a:off x="0" y="106011"/>
            <a:ext cx="291745" cy="222188"/>
            <a:chOff x="3271200" y="3863875"/>
            <a:chExt cx="481825" cy="366950"/>
          </a:xfrm>
        </p:grpSpPr>
        <p:sp>
          <p:nvSpPr>
            <p:cNvPr id="442" name="Google Shape;442;p43"/>
            <p:cNvSpPr/>
            <p:nvPr/>
          </p:nvSpPr>
          <p:spPr>
            <a:xfrm>
              <a:off x="3271200" y="3920350"/>
              <a:ext cx="283225" cy="310475"/>
            </a:xfrm>
            <a:custGeom>
              <a:avLst/>
              <a:gdLst/>
              <a:ahLst/>
              <a:cxnLst/>
              <a:rect l="l" t="t" r="r" b="b"/>
              <a:pathLst>
                <a:path w="11329" h="12419" extrusionOk="0">
                  <a:moveTo>
                    <a:pt x="1693" y="0"/>
                  </a:moveTo>
                  <a:cubicBezTo>
                    <a:pt x="756" y="0"/>
                    <a:pt x="0" y="756"/>
                    <a:pt x="0" y="1693"/>
                  </a:cubicBezTo>
                  <a:lnTo>
                    <a:pt x="0" y="8468"/>
                  </a:lnTo>
                  <a:cubicBezTo>
                    <a:pt x="0" y="9405"/>
                    <a:pt x="756" y="10160"/>
                    <a:pt x="1693" y="10163"/>
                  </a:cubicBezTo>
                  <a:lnTo>
                    <a:pt x="2861" y="10163"/>
                  </a:lnTo>
                  <a:cubicBezTo>
                    <a:pt x="2861" y="11410"/>
                    <a:pt x="3870" y="12419"/>
                    <a:pt x="5120" y="12419"/>
                  </a:cubicBezTo>
                  <a:cubicBezTo>
                    <a:pt x="6366" y="12419"/>
                    <a:pt x="7378" y="11410"/>
                    <a:pt x="7378" y="10163"/>
                  </a:cubicBezTo>
                  <a:lnTo>
                    <a:pt x="9070" y="10163"/>
                  </a:lnTo>
                  <a:lnTo>
                    <a:pt x="9070" y="6679"/>
                  </a:lnTo>
                  <a:cubicBezTo>
                    <a:pt x="9070" y="6356"/>
                    <a:pt x="9350" y="6116"/>
                    <a:pt x="9645" y="6116"/>
                  </a:cubicBezTo>
                  <a:cubicBezTo>
                    <a:pt x="9705" y="6116"/>
                    <a:pt x="9765" y="6126"/>
                    <a:pt x="9823" y="6146"/>
                  </a:cubicBezTo>
                  <a:cubicBezTo>
                    <a:pt x="9938" y="6187"/>
                    <a:pt x="10055" y="6206"/>
                    <a:pt x="10172" y="6206"/>
                  </a:cubicBezTo>
                  <a:cubicBezTo>
                    <a:pt x="10766" y="6206"/>
                    <a:pt x="11329" y="5708"/>
                    <a:pt x="11329" y="5080"/>
                  </a:cubicBezTo>
                  <a:cubicBezTo>
                    <a:pt x="11329" y="4453"/>
                    <a:pt x="10766" y="3954"/>
                    <a:pt x="10172" y="3954"/>
                  </a:cubicBezTo>
                  <a:cubicBezTo>
                    <a:pt x="10055" y="3954"/>
                    <a:pt x="9938" y="3974"/>
                    <a:pt x="9823" y="4014"/>
                  </a:cubicBezTo>
                  <a:cubicBezTo>
                    <a:pt x="9759" y="4037"/>
                    <a:pt x="9695" y="4048"/>
                    <a:pt x="9632" y="4048"/>
                  </a:cubicBezTo>
                  <a:cubicBezTo>
                    <a:pt x="9333" y="4048"/>
                    <a:pt x="9070" y="3805"/>
                    <a:pt x="9070" y="3484"/>
                  </a:cubicBezTo>
                  <a:lnTo>
                    <a:pt x="9070" y="0"/>
                  </a:lnTo>
                  <a:lnTo>
                    <a:pt x="6381" y="0"/>
                  </a:lnTo>
                  <a:cubicBezTo>
                    <a:pt x="5894" y="0"/>
                    <a:pt x="5635" y="576"/>
                    <a:pt x="5960" y="940"/>
                  </a:cubicBezTo>
                  <a:cubicBezTo>
                    <a:pt x="6610" y="1669"/>
                    <a:pt x="6095" y="2822"/>
                    <a:pt x="5120" y="2822"/>
                  </a:cubicBezTo>
                  <a:cubicBezTo>
                    <a:pt x="4141" y="2822"/>
                    <a:pt x="3626" y="1669"/>
                    <a:pt x="4276" y="940"/>
                  </a:cubicBezTo>
                  <a:cubicBezTo>
                    <a:pt x="4602" y="576"/>
                    <a:pt x="4343" y="0"/>
                    <a:pt x="38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43" name="Google Shape;443;p43"/>
            <p:cNvSpPr/>
            <p:nvPr/>
          </p:nvSpPr>
          <p:spPr>
            <a:xfrm>
              <a:off x="3526175" y="3863875"/>
              <a:ext cx="226850" cy="310575"/>
            </a:xfrm>
            <a:custGeom>
              <a:avLst/>
              <a:gdLst/>
              <a:ahLst/>
              <a:cxnLst/>
              <a:rect l="l" t="t" r="r" b="b"/>
              <a:pathLst>
                <a:path w="9074" h="12423" extrusionOk="0">
                  <a:moveTo>
                    <a:pt x="3954" y="1"/>
                  </a:moveTo>
                  <a:cubicBezTo>
                    <a:pt x="2705" y="1"/>
                    <a:pt x="1696" y="1010"/>
                    <a:pt x="1696" y="2259"/>
                  </a:cubicBezTo>
                  <a:lnTo>
                    <a:pt x="1" y="2259"/>
                  </a:lnTo>
                  <a:lnTo>
                    <a:pt x="1" y="5081"/>
                  </a:lnTo>
                  <a:cubicBezTo>
                    <a:pt x="1247" y="5081"/>
                    <a:pt x="2259" y="6093"/>
                    <a:pt x="2259" y="7339"/>
                  </a:cubicBezTo>
                  <a:cubicBezTo>
                    <a:pt x="2259" y="8586"/>
                    <a:pt x="1247" y="9598"/>
                    <a:pt x="1" y="9598"/>
                  </a:cubicBezTo>
                  <a:lnTo>
                    <a:pt x="1" y="12422"/>
                  </a:lnTo>
                  <a:lnTo>
                    <a:pt x="7378" y="12422"/>
                  </a:lnTo>
                  <a:cubicBezTo>
                    <a:pt x="8315" y="12419"/>
                    <a:pt x="9070" y="11664"/>
                    <a:pt x="9073" y="10727"/>
                  </a:cubicBezTo>
                  <a:lnTo>
                    <a:pt x="9073" y="3952"/>
                  </a:lnTo>
                  <a:cubicBezTo>
                    <a:pt x="9070" y="3015"/>
                    <a:pt x="8315" y="2259"/>
                    <a:pt x="7378" y="2259"/>
                  </a:cubicBezTo>
                  <a:lnTo>
                    <a:pt x="6213" y="2259"/>
                  </a:lnTo>
                  <a:cubicBezTo>
                    <a:pt x="6213" y="1010"/>
                    <a:pt x="5201" y="1"/>
                    <a:pt x="3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44" name="Google Shape;444;p43"/>
          <p:cNvGrpSpPr/>
          <p:nvPr/>
        </p:nvGrpSpPr>
        <p:grpSpPr>
          <a:xfrm>
            <a:off x="8046483" y="251626"/>
            <a:ext cx="254864" cy="257380"/>
            <a:chOff x="-37804925" y="3953450"/>
            <a:chExt cx="315075" cy="318225"/>
          </a:xfrm>
        </p:grpSpPr>
        <p:sp>
          <p:nvSpPr>
            <p:cNvPr id="445" name="Google Shape;445;p43"/>
            <p:cNvSpPr/>
            <p:nvPr/>
          </p:nvSpPr>
          <p:spPr>
            <a:xfrm>
              <a:off x="-37614300" y="3955025"/>
              <a:ext cx="124450" cy="186200"/>
            </a:xfrm>
            <a:custGeom>
              <a:avLst/>
              <a:gdLst/>
              <a:ahLst/>
              <a:cxnLst/>
              <a:rect l="l" t="t" r="r" b="b"/>
              <a:pathLst>
                <a:path w="4978" h="7448" extrusionOk="0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3"/>
            <p:cNvSpPr/>
            <p:nvPr/>
          </p:nvSpPr>
          <p:spPr>
            <a:xfrm>
              <a:off x="-37761600" y="4230700"/>
              <a:ext cx="270175" cy="40975"/>
            </a:xfrm>
            <a:custGeom>
              <a:avLst/>
              <a:gdLst/>
              <a:ahLst/>
              <a:cxnLst/>
              <a:rect l="l" t="t" r="r" b="b"/>
              <a:pathLst>
                <a:path w="10807" h="1639" extrusionOk="0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3"/>
            <p:cNvSpPr/>
            <p:nvPr/>
          </p:nvSpPr>
          <p:spPr>
            <a:xfrm>
              <a:off x="-37804925" y="3953450"/>
              <a:ext cx="274125" cy="295675"/>
            </a:xfrm>
            <a:custGeom>
              <a:avLst/>
              <a:gdLst/>
              <a:ahLst/>
              <a:cxnLst/>
              <a:rect l="l" t="t" r="r" b="b"/>
              <a:pathLst>
                <a:path w="10965" h="11827" extrusionOk="0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1" name="Google Shape;461;p43"/>
          <p:cNvSpPr txBox="1"/>
          <p:nvPr/>
        </p:nvSpPr>
        <p:spPr>
          <a:xfrm>
            <a:off x="863484" y="1490054"/>
            <a:ext cx="7697100" cy="108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1600" dirty="0"/>
              <a:t>• Data </a:t>
            </a:r>
            <a:r>
              <a:rPr lang="en-ID" sz="1600" dirty="0" err="1"/>
              <a:t>pengguna</a:t>
            </a:r>
            <a:r>
              <a:rPr lang="en-ID" sz="1600" dirty="0"/>
              <a:t> </a:t>
            </a:r>
            <a:r>
              <a:rPr lang="en-ID" sz="1600" dirty="0" err="1"/>
              <a:t>rentan</a:t>
            </a:r>
            <a:r>
              <a:rPr lang="en-ID" sz="1600" dirty="0"/>
              <a:t> bocor.</a:t>
            </a:r>
          </a:p>
          <a:p>
            <a:r>
              <a:rPr lang="en-ID" sz="1600" dirty="0"/>
              <a:t>• </a:t>
            </a:r>
            <a:r>
              <a:rPr lang="en-ID" sz="1600" dirty="0" err="1"/>
              <a:t>Sistem</a:t>
            </a:r>
            <a:r>
              <a:rPr lang="en-ID" sz="1600" dirty="0"/>
              <a:t> digital </a:t>
            </a:r>
            <a:r>
              <a:rPr lang="en-ID" sz="1600" dirty="0" err="1"/>
              <a:t>harus</a:t>
            </a:r>
            <a:r>
              <a:rPr lang="en-ID" sz="1600" dirty="0"/>
              <a:t> </a:t>
            </a:r>
            <a:r>
              <a:rPr lang="en-ID" sz="1600" dirty="0" err="1"/>
              <a:t>menjaga</a:t>
            </a:r>
            <a:r>
              <a:rPr lang="en-ID" sz="1600" dirty="0"/>
              <a:t> </a:t>
            </a:r>
            <a:r>
              <a:rPr lang="en-ID" sz="1600" dirty="0" err="1"/>
              <a:t>kerahasiaan</a:t>
            </a:r>
            <a:r>
              <a:rPr lang="en-ID" sz="1600" dirty="0"/>
              <a:t>.</a:t>
            </a:r>
          </a:p>
          <a:p>
            <a:r>
              <a:rPr lang="en-ID" sz="1600" dirty="0"/>
              <a:t>• </a:t>
            </a:r>
            <a:r>
              <a:rPr lang="en-ID" sz="1600" dirty="0" err="1"/>
              <a:t>Diperlukan</a:t>
            </a:r>
            <a:r>
              <a:rPr lang="en-ID" sz="1600" dirty="0"/>
              <a:t> </a:t>
            </a:r>
            <a:r>
              <a:rPr lang="en-ID" sz="1600" dirty="0" err="1"/>
              <a:t>pengamanan</a:t>
            </a:r>
            <a:r>
              <a:rPr lang="en-ID" sz="1600" dirty="0"/>
              <a:t> data yang </a:t>
            </a:r>
            <a:r>
              <a:rPr lang="en-ID" sz="1600" dirty="0" err="1"/>
              <a:t>kuat</a:t>
            </a:r>
            <a:endParaRPr lang="en-ID" sz="1600" dirty="0"/>
          </a:p>
        </p:txBody>
      </p:sp>
      <p:sp>
        <p:nvSpPr>
          <p:cNvPr id="462" name="Google Shape;462;p4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dirty="0" err="1"/>
              <a:t>Permasalahan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Data</a:t>
            </a:r>
            <a:endParaRPr dirty="0"/>
          </a:p>
        </p:txBody>
      </p:sp>
      <p:grpSp>
        <p:nvGrpSpPr>
          <p:cNvPr id="480" name="Google Shape;480;p43"/>
          <p:cNvGrpSpPr/>
          <p:nvPr/>
        </p:nvGrpSpPr>
        <p:grpSpPr>
          <a:xfrm>
            <a:off x="8430787" y="228418"/>
            <a:ext cx="346490" cy="311075"/>
            <a:chOff x="5655285" y="1922218"/>
            <a:chExt cx="2946347" cy="2645192"/>
          </a:xfrm>
        </p:grpSpPr>
        <p:sp>
          <p:nvSpPr>
            <p:cNvPr id="481" name="Google Shape;481;p43"/>
            <p:cNvSpPr/>
            <p:nvPr/>
          </p:nvSpPr>
          <p:spPr>
            <a:xfrm>
              <a:off x="5944020" y="4048928"/>
              <a:ext cx="2362667" cy="518482"/>
            </a:xfrm>
            <a:custGeom>
              <a:avLst/>
              <a:gdLst/>
              <a:ahLst/>
              <a:cxnLst/>
              <a:rect l="l" t="t" r="r" b="b"/>
              <a:pathLst>
                <a:path w="2362667" h="518482" extrusionOk="0">
                  <a:moveTo>
                    <a:pt x="0" y="0"/>
                  </a:moveTo>
                  <a:lnTo>
                    <a:pt x="2362667" y="0"/>
                  </a:lnTo>
                  <a:lnTo>
                    <a:pt x="2362667" y="518483"/>
                  </a:lnTo>
                  <a:lnTo>
                    <a:pt x="0" y="518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43"/>
            <p:cNvSpPr/>
            <p:nvPr/>
          </p:nvSpPr>
          <p:spPr>
            <a:xfrm>
              <a:off x="5928497" y="1922218"/>
              <a:ext cx="2412342" cy="1716891"/>
            </a:xfrm>
            <a:custGeom>
              <a:avLst/>
              <a:gdLst/>
              <a:ahLst/>
              <a:cxnLst/>
              <a:rect l="l" t="t" r="r" b="b"/>
              <a:pathLst>
                <a:path w="2412342" h="1716891" extrusionOk="0">
                  <a:moveTo>
                    <a:pt x="0" y="1716892"/>
                  </a:moveTo>
                  <a:lnTo>
                    <a:pt x="1195305" y="0"/>
                  </a:lnTo>
                  <a:lnTo>
                    <a:pt x="2412342" y="1716892"/>
                  </a:lnTo>
                  <a:lnTo>
                    <a:pt x="0" y="17168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43"/>
            <p:cNvSpPr/>
            <p:nvPr/>
          </p:nvSpPr>
          <p:spPr>
            <a:xfrm>
              <a:off x="6235861" y="2397235"/>
              <a:ext cx="2365771" cy="1518191"/>
            </a:xfrm>
            <a:custGeom>
              <a:avLst/>
              <a:gdLst/>
              <a:ahLst/>
              <a:cxnLst/>
              <a:rect l="l" t="t" r="r" b="b"/>
              <a:pathLst>
                <a:path w="2365771" h="1518191" extrusionOk="0">
                  <a:moveTo>
                    <a:pt x="2086350" y="1518192"/>
                  </a:moveTo>
                  <a:lnTo>
                    <a:pt x="2365772" y="0"/>
                  </a:lnTo>
                  <a:lnTo>
                    <a:pt x="0" y="1518192"/>
                  </a:lnTo>
                  <a:lnTo>
                    <a:pt x="2086350" y="15181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43"/>
            <p:cNvSpPr/>
            <p:nvPr/>
          </p:nvSpPr>
          <p:spPr>
            <a:xfrm>
              <a:off x="5655285" y="2394130"/>
              <a:ext cx="2207432" cy="1521296"/>
            </a:xfrm>
            <a:custGeom>
              <a:avLst/>
              <a:gdLst/>
              <a:ahLst/>
              <a:cxnLst/>
              <a:rect l="l" t="t" r="r" b="b"/>
              <a:pathLst>
                <a:path w="2207432" h="1521296" extrusionOk="0">
                  <a:moveTo>
                    <a:pt x="270108" y="1521297"/>
                  </a:moveTo>
                  <a:lnTo>
                    <a:pt x="0" y="0"/>
                  </a:lnTo>
                  <a:lnTo>
                    <a:pt x="2207433" y="1521297"/>
                  </a:lnTo>
                  <a:lnTo>
                    <a:pt x="270108" y="15212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4"/>
          <p:cNvSpPr txBox="1">
            <a:spLocks noGrp="1"/>
          </p:cNvSpPr>
          <p:nvPr>
            <p:ph type="title"/>
          </p:nvPr>
        </p:nvSpPr>
        <p:spPr>
          <a:xfrm>
            <a:off x="728527" y="462465"/>
            <a:ext cx="3745502" cy="5594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dirty="0" err="1"/>
              <a:t>Kriptografi</a:t>
            </a:r>
            <a:r>
              <a:rPr lang="en-ID" dirty="0"/>
              <a:t> AES</a:t>
            </a:r>
            <a:endParaRPr dirty="0"/>
          </a:p>
        </p:txBody>
      </p:sp>
      <p:grpSp>
        <p:nvGrpSpPr>
          <p:cNvPr id="498" name="Google Shape;498;p44"/>
          <p:cNvGrpSpPr/>
          <p:nvPr/>
        </p:nvGrpSpPr>
        <p:grpSpPr>
          <a:xfrm>
            <a:off x="8224342" y="137403"/>
            <a:ext cx="412865" cy="384035"/>
            <a:chOff x="-49397175" y="3192625"/>
            <a:chExt cx="300900" cy="281200"/>
          </a:xfrm>
        </p:grpSpPr>
        <p:sp>
          <p:nvSpPr>
            <p:cNvPr id="499" name="Google Shape;499;p44"/>
            <p:cNvSpPr/>
            <p:nvPr/>
          </p:nvSpPr>
          <p:spPr>
            <a:xfrm>
              <a:off x="-49325500" y="3297975"/>
              <a:ext cx="64625" cy="58500"/>
            </a:xfrm>
            <a:custGeom>
              <a:avLst/>
              <a:gdLst/>
              <a:ahLst/>
              <a:cxnLst/>
              <a:rect l="l" t="t" r="r" b="b"/>
              <a:pathLst>
                <a:path w="2585" h="2340" extrusionOk="0">
                  <a:moveTo>
                    <a:pt x="1045" y="1"/>
                  </a:moveTo>
                  <a:cubicBezTo>
                    <a:pt x="692" y="1"/>
                    <a:pt x="336" y="54"/>
                    <a:pt x="1" y="165"/>
                  </a:cubicBezTo>
                  <a:cubicBezTo>
                    <a:pt x="158" y="1079"/>
                    <a:pt x="694" y="1867"/>
                    <a:pt x="1482" y="2339"/>
                  </a:cubicBezTo>
                  <a:cubicBezTo>
                    <a:pt x="1639" y="1583"/>
                    <a:pt x="2017" y="890"/>
                    <a:pt x="2584" y="354"/>
                  </a:cubicBezTo>
                  <a:cubicBezTo>
                    <a:pt x="2126" y="126"/>
                    <a:pt x="1588" y="1"/>
                    <a:pt x="10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4"/>
            <p:cNvSpPr/>
            <p:nvPr/>
          </p:nvSpPr>
          <p:spPr>
            <a:xfrm>
              <a:off x="-49345975" y="3192625"/>
              <a:ext cx="199300" cy="103975"/>
            </a:xfrm>
            <a:custGeom>
              <a:avLst/>
              <a:gdLst/>
              <a:ahLst/>
              <a:cxnLst/>
              <a:rect l="l" t="t" r="r" b="b"/>
              <a:pathLst>
                <a:path w="7972" h="4159" extrusionOk="0">
                  <a:moveTo>
                    <a:pt x="3970" y="0"/>
                  </a:moveTo>
                  <a:cubicBezTo>
                    <a:pt x="1670" y="0"/>
                    <a:pt x="1" y="2048"/>
                    <a:pt x="127" y="3907"/>
                  </a:cubicBezTo>
                  <a:cubicBezTo>
                    <a:pt x="743" y="3639"/>
                    <a:pt x="1342" y="3513"/>
                    <a:pt x="1908" y="3513"/>
                  </a:cubicBezTo>
                  <a:cubicBezTo>
                    <a:pt x="2671" y="3513"/>
                    <a:pt x="3373" y="3743"/>
                    <a:pt x="3970" y="4159"/>
                  </a:cubicBezTo>
                  <a:cubicBezTo>
                    <a:pt x="4586" y="3743"/>
                    <a:pt x="5274" y="3513"/>
                    <a:pt x="6036" y="3513"/>
                  </a:cubicBezTo>
                  <a:cubicBezTo>
                    <a:pt x="6599" y="3513"/>
                    <a:pt x="7202" y="3639"/>
                    <a:pt x="7845" y="3907"/>
                  </a:cubicBezTo>
                  <a:cubicBezTo>
                    <a:pt x="7971" y="2048"/>
                    <a:pt x="6302" y="0"/>
                    <a:pt x="39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4"/>
            <p:cNvSpPr/>
            <p:nvPr/>
          </p:nvSpPr>
          <p:spPr>
            <a:xfrm>
              <a:off x="-49272725" y="3381650"/>
              <a:ext cx="52800" cy="53575"/>
            </a:xfrm>
            <a:custGeom>
              <a:avLst/>
              <a:gdLst/>
              <a:ahLst/>
              <a:cxnLst/>
              <a:rect l="l" t="t" r="r" b="b"/>
              <a:pathLst>
                <a:path w="2112" h="2143" extrusionOk="0">
                  <a:moveTo>
                    <a:pt x="2112" y="0"/>
                  </a:moveTo>
                  <a:cubicBezTo>
                    <a:pt x="1765" y="111"/>
                    <a:pt x="1403" y="166"/>
                    <a:pt x="1044" y="166"/>
                  </a:cubicBezTo>
                  <a:cubicBezTo>
                    <a:pt x="686" y="166"/>
                    <a:pt x="331" y="111"/>
                    <a:pt x="1" y="0"/>
                  </a:cubicBezTo>
                  <a:lnTo>
                    <a:pt x="1" y="0"/>
                  </a:lnTo>
                  <a:cubicBezTo>
                    <a:pt x="32" y="851"/>
                    <a:pt x="442" y="1576"/>
                    <a:pt x="1040" y="2143"/>
                  </a:cubicBezTo>
                  <a:cubicBezTo>
                    <a:pt x="1702" y="1576"/>
                    <a:pt x="2049" y="788"/>
                    <a:pt x="2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4"/>
            <p:cNvSpPr/>
            <p:nvPr/>
          </p:nvSpPr>
          <p:spPr>
            <a:xfrm>
              <a:off x="-49231775" y="3298075"/>
              <a:ext cx="63050" cy="58400"/>
            </a:xfrm>
            <a:custGeom>
              <a:avLst/>
              <a:gdLst/>
              <a:ahLst/>
              <a:cxnLst/>
              <a:rect l="l" t="t" r="r" b="b"/>
              <a:pathLst>
                <a:path w="2522" h="2336" extrusionOk="0">
                  <a:moveTo>
                    <a:pt x="1547" y="0"/>
                  </a:moveTo>
                  <a:cubicBezTo>
                    <a:pt x="1009" y="0"/>
                    <a:pt x="469" y="141"/>
                    <a:pt x="1" y="414"/>
                  </a:cubicBezTo>
                  <a:cubicBezTo>
                    <a:pt x="568" y="918"/>
                    <a:pt x="915" y="1611"/>
                    <a:pt x="1072" y="2335"/>
                  </a:cubicBezTo>
                  <a:cubicBezTo>
                    <a:pt x="1860" y="1863"/>
                    <a:pt x="2364" y="1075"/>
                    <a:pt x="2521" y="161"/>
                  </a:cubicBezTo>
                  <a:cubicBezTo>
                    <a:pt x="2209" y="53"/>
                    <a:pt x="1879" y="0"/>
                    <a:pt x="15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4"/>
            <p:cNvSpPr/>
            <p:nvPr/>
          </p:nvSpPr>
          <p:spPr>
            <a:xfrm>
              <a:off x="-49271925" y="3317850"/>
              <a:ext cx="48850" cy="49850"/>
            </a:xfrm>
            <a:custGeom>
              <a:avLst/>
              <a:gdLst/>
              <a:ahLst/>
              <a:cxnLst/>
              <a:rect l="l" t="t" r="r" b="b"/>
              <a:pathLst>
                <a:path w="1954" h="1994" extrusionOk="0">
                  <a:moveTo>
                    <a:pt x="977" y="1"/>
                  </a:moveTo>
                  <a:cubicBezTo>
                    <a:pt x="441" y="505"/>
                    <a:pt x="158" y="1040"/>
                    <a:pt x="0" y="1828"/>
                  </a:cubicBezTo>
                  <a:cubicBezTo>
                    <a:pt x="347" y="1938"/>
                    <a:pt x="670" y="1993"/>
                    <a:pt x="989" y="1993"/>
                  </a:cubicBezTo>
                  <a:cubicBezTo>
                    <a:pt x="1308" y="1993"/>
                    <a:pt x="1623" y="1938"/>
                    <a:pt x="1953" y="1828"/>
                  </a:cubicBezTo>
                  <a:cubicBezTo>
                    <a:pt x="1859" y="1103"/>
                    <a:pt x="1607" y="568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4"/>
            <p:cNvSpPr/>
            <p:nvPr/>
          </p:nvSpPr>
          <p:spPr>
            <a:xfrm>
              <a:off x="-49245950" y="3291075"/>
              <a:ext cx="149675" cy="182750"/>
            </a:xfrm>
            <a:custGeom>
              <a:avLst/>
              <a:gdLst/>
              <a:ahLst/>
              <a:cxnLst/>
              <a:rect l="l" t="t" r="r" b="b"/>
              <a:pathLst>
                <a:path w="5987" h="7310" extrusionOk="0">
                  <a:moveTo>
                    <a:pt x="3844" y="0"/>
                  </a:moveTo>
                  <a:cubicBezTo>
                    <a:pt x="3718" y="1670"/>
                    <a:pt x="2899" y="2773"/>
                    <a:pt x="1734" y="3371"/>
                  </a:cubicBezTo>
                  <a:cubicBezTo>
                    <a:pt x="1765" y="4537"/>
                    <a:pt x="1261" y="5734"/>
                    <a:pt x="1" y="6679"/>
                  </a:cubicBezTo>
                  <a:cubicBezTo>
                    <a:pt x="631" y="7057"/>
                    <a:pt x="1324" y="7310"/>
                    <a:pt x="2080" y="7310"/>
                  </a:cubicBezTo>
                  <a:cubicBezTo>
                    <a:pt x="4191" y="7310"/>
                    <a:pt x="5987" y="5577"/>
                    <a:pt x="5987" y="3434"/>
                  </a:cubicBezTo>
                  <a:cubicBezTo>
                    <a:pt x="5955" y="1985"/>
                    <a:pt x="5105" y="630"/>
                    <a:pt x="38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4"/>
            <p:cNvSpPr/>
            <p:nvPr/>
          </p:nvSpPr>
          <p:spPr>
            <a:xfrm>
              <a:off x="-49397175" y="3291075"/>
              <a:ext cx="149675" cy="182750"/>
            </a:xfrm>
            <a:custGeom>
              <a:avLst/>
              <a:gdLst/>
              <a:ahLst/>
              <a:cxnLst/>
              <a:rect l="l" t="t" r="r" b="b"/>
              <a:pathLst>
                <a:path w="5987" h="7310" extrusionOk="0">
                  <a:moveTo>
                    <a:pt x="2143" y="0"/>
                  </a:moveTo>
                  <a:cubicBezTo>
                    <a:pt x="852" y="694"/>
                    <a:pt x="1" y="1985"/>
                    <a:pt x="1" y="3434"/>
                  </a:cubicBezTo>
                  <a:cubicBezTo>
                    <a:pt x="1" y="5577"/>
                    <a:pt x="1797" y="7310"/>
                    <a:pt x="3908" y="7310"/>
                  </a:cubicBezTo>
                  <a:cubicBezTo>
                    <a:pt x="4664" y="7310"/>
                    <a:pt x="5357" y="7057"/>
                    <a:pt x="5987" y="6679"/>
                  </a:cubicBezTo>
                  <a:cubicBezTo>
                    <a:pt x="4727" y="5734"/>
                    <a:pt x="4223" y="4537"/>
                    <a:pt x="4254" y="3371"/>
                  </a:cubicBezTo>
                  <a:cubicBezTo>
                    <a:pt x="3088" y="2773"/>
                    <a:pt x="2301" y="1670"/>
                    <a:pt x="21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6" name="Google Shape;506;p44"/>
          <p:cNvGrpSpPr/>
          <p:nvPr/>
        </p:nvGrpSpPr>
        <p:grpSpPr>
          <a:xfrm>
            <a:off x="0" y="81246"/>
            <a:ext cx="381187" cy="381219"/>
            <a:chOff x="-50134375" y="3550975"/>
            <a:chExt cx="300100" cy="300125"/>
          </a:xfrm>
        </p:grpSpPr>
        <p:sp>
          <p:nvSpPr>
            <p:cNvPr id="507" name="Google Shape;507;p44"/>
            <p:cNvSpPr/>
            <p:nvPr/>
          </p:nvSpPr>
          <p:spPr>
            <a:xfrm>
              <a:off x="-50134375" y="3550975"/>
              <a:ext cx="300100" cy="300125"/>
            </a:xfrm>
            <a:custGeom>
              <a:avLst/>
              <a:gdLst/>
              <a:ahLst/>
              <a:cxnLst/>
              <a:rect l="l" t="t" r="r" b="b"/>
              <a:pathLst>
                <a:path w="12004" h="12005" extrusionOk="0">
                  <a:moveTo>
                    <a:pt x="9893" y="1419"/>
                  </a:moveTo>
                  <a:lnTo>
                    <a:pt x="9893" y="1797"/>
                  </a:lnTo>
                  <a:cubicBezTo>
                    <a:pt x="9893" y="1986"/>
                    <a:pt x="10050" y="2143"/>
                    <a:pt x="10239" y="2143"/>
                  </a:cubicBezTo>
                  <a:lnTo>
                    <a:pt x="10586" y="2143"/>
                  </a:lnTo>
                  <a:lnTo>
                    <a:pt x="10586" y="9893"/>
                  </a:lnTo>
                  <a:lnTo>
                    <a:pt x="10239" y="9893"/>
                  </a:lnTo>
                  <a:cubicBezTo>
                    <a:pt x="10050" y="9893"/>
                    <a:pt x="9893" y="10051"/>
                    <a:pt x="9893" y="10240"/>
                  </a:cubicBezTo>
                  <a:lnTo>
                    <a:pt x="9893" y="10587"/>
                  </a:lnTo>
                  <a:lnTo>
                    <a:pt x="2143" y="10587"/>
                  </a:lnTo>
                  <a:lnTo>
                    <a:pt x="2143" y="10240"/>
                  </a:lnTo>
                  <a:cubicBezTo>
                    <a:pt x="2143" y="10051"/>
                    <a:pt x="1985" y="9893"/>
                    <a:pt x="1765" y="9893"/>
                  </a:cubicBezTo>
                  <a:lnTo>
                    <a:pt x="1418" y="9893"/>
                  </a:lnTo>
                  <a:lnTo>
                    <a:pt x="1418" y="2143"/>
                  </a:lnTo>
                  <a:lnTo>
                    <a:pt x="1765" y="2143"/>
                  </a:lnTo>
                  <a:cubicBezTo>
                    <a:pt x="1985" y="2143"/>
                    <a:pt x="2143" y="1986"/>
                    <a:pt x="2143" y="1797"/>
                  </a:cubicBezTo>
                  <a:lnTo>
                    <a:pt x="2143" y="1419"/>
                  </a:lnTo>
                  <a:close/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1797"/>
                  </a:lnTo>
                  <a:cubicBezTo>
                    <a:pt x="0" y="1986"/>
                    <a:pt x="158" y="2143"/>
                    <a:pt x="347" y="2143"/>
                  </a:cubicBezTo>
                  <a:lnTo>
                    <a:pt x="693" y="2143"/>
                  </a:lnTo>
                  <a:lnTo>
                    <a:pt x="693" y="9893"/>
                  </a:lnTo>
                  <a:lnTo>
                    <a:pt x="347" y="9893"/>
                  </a:lnTo>
                  <a:cubicBezTo>
                    <a:pt x="158" y="9893"/>
                    <a:pt x="0" y="10051"/>
                    <a:pt x="0" y="10240"/>
                  </a:cubicBezTo>
                  <a:lnTo>
                    <a:pt x="0" y="11658"/>
                  </a:lnTo>
                  <a:cubicBezTo>
                    <a:pt x="0" y="11847"/>
                    <a:pt x="158" y="12004"/>
                    <a:pt x="347" y="12004"/>
                  </a:cubicBezTo>
                  <a:lnTo>
                    <a:pt x="1765" y="12004"/>
                  </a:lnTo>
                  <a:cubicBezTo>
                    <a:pt x="1985" y="12004"/>
                    <a:pt x="2111" y="11847"/>
                    <a:pt x="2111" y="11658"/>
                  </a:cubicBezTo>
                  <a:lnTo>
                    <a:pt x="2111" y="11311"/>
                  </a:lnTo>
                  <a:lnTo>
                    <a:pt x="9893" y="11311"/>
                  </a:lnTo>
                  <a:lnTo>
                    <a:pt x="9893" y="11658"/>
                  </a:lnTo>
                  <a:cubicBezTo>
                    <a:pt x="9893" y="11847"/>
                    <a:pt x="10050" y="12004"/>
                    <a:pt x="10239" y="12004"/>
                  </a:cubicBezTo>
                  <a:lnTo>
                    <a:pt x="11657" y="12004"/>
                  </a:lnTo>
                  <a:cubicBezTo>
                    <a:pt x="11846" y="12004"/>
                    <a:pt x="12004" y="11847"/>
                    <a:pt x="12004" y="11658"/>
                  </a:cubicBezTo>
                  <a:lnTo>
                    <a:pt x="12004" y="10240"/>
                  </a:lnTo>
                  <a:cubicBezTo>
                    <a:pt x="12004" y="10051"/>
                    <a:pt x="11846" y="9893"/>
                    <a:pt x="11657" y="9893"/>
                  </a:cubicBezTo>
                  <a:lnTo>
                    <a:pt x="11311" y="9893"/>
                  </a:lnTo>
                  <a:lnTo>
                    <a:pt x="11311" y="2143"/>
                  </a:lnTo>
                  <a:lnTo>
                    <a:pt x="11657" y="2143"/>
                  </a:lnTo>
                  <a:cubicBezTo>
                    <a:pt x="11846" y="2143"/>
                    <a:pt x="12004" y="1986"/>
                    <a:pt x="12004" y="1797"/>
                  </a:cubicBezTo>
                  <a:lnTo>
                    <a:pt x="12004" y="348"/>
                  </a:lnTo>
                  <a:cubicBezTo>
                    <a:pt x="12004" y="159"/>
                    <a:pt x="11846" y="1"/>
                    <a:pt x="11657" y="1"/>
                  </a:cubicBezTo>
                  <a:lnTo>
                    <a:pt x="10239" y="1"/>
                  </a:lnTo>
                  <a:cubicBezTo>
                    <a:pt x="10050" y="1"/>
                    <a:pt x="9893" y="159"/>
                    <a:pt x="9893" y="348"/>
                  </a:cubicBezTo>
                  <a:lnTo>
                    <a:pt x="9893" y="726"/>
                  </a:lnTo>
                  <a:lnTo>
                    <a:pt x="2111" y="726"/>
                  </a:lnTo>
                  <a:lnTo>
                    <a:pt x="2111" y="348"/>
                  </a:lnTo>
                  <a:cubicBezTo>
                    <a:pt x="2111" y="159"/>
                    <a:pt x="1985" y="1"/>
                    <a:pt x="1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4"/>
            <p:cNvSpPr/>
            <p:nvPr/>
          </p:nvSpPr>
          <p:spPr>
            <a:xfrm>
              <a:off x="-50054825" y="3603750"/>
              <a:ext cx="141800" cy="194575"/>
            </a:xfrm>
            <a:custGeom>
              <a:avLst/>
              <a:gdLst/>
              <a:ahLst/>
              <a:cxnLst/>
              <a:rect l="l" t="t" r="r" b="b"/>
              <a:pathLst>
                <a:path w="5672" h="7783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65"/>
                  </a:lnTo>
                  <a:cubicBezTo>
                    <a:pt x="0" y="1873"/>
                    <a:pt x="74" y="1922"/>
                    <a:pt x="151" y="1922"/>
                  </a:cubicBezTo>
                  <a:cubicBezTo>
                    <a:pt x="186" y="1922"/>
                    <a:pt x="222" y="1911"/>
                    <a:pt x="252" y="1891"/>
                  </a:cubicBezTo>
                  <a:lnTo>
                    <a:pt x="725" y="1419"/>
                  </a:lnTo>
                  <a:lnTo>
                    <a:pt x="2143" y="1419"/>
                  </a:lnTo>
                  <a:lnTo>
                    <a:pt x="2143" y="7089"/>
                  </a:lnTo>
                  <a:lnTo>
                    <a:pt x="1670" y="7562"/>
                  </a:lnTo>
                  <a:cubicBezTo>
                    <a:pt x="1576" y="7625"/>
                    <a:pt x="1670" y="7782"/>
                    <a:pt x="1765" y="7782"/>
                  </a:cubicBezTo>
                  <a:lnTo>
                    <a:pt x="3907" y="7782"/>
                  </a:lnTo>
                  <a:cubicBezTo>
                    <a:pt x="4064" y="7782"/>
                    <a:pt x="4096" y="7625"/>
                    <a:pt x="4033" y="7562"/>
                  </a:cubicBezTo>
                  <a:lnTo>
                    <a:pt x="3560" y="7089"/>
                  </a:lnTo>
                  <a:lnTo>
                    <a:pt x="3560" y="1419"/>
                  </a:lnTo>
                  <a:lnTo>
                    <a:pt x="4978" y="1419"/>
                  </a:lnTo>
                  <a:lnTo>
                    <a:pt x="5451" y="1891"/>
                  </a:lnTo>
                  <a:cubicBezTo>
                    <a:pt x="5467" y="1908"/>
                    <a:pt x="5491" y="1916"/>
                    <a:pt x="5517" y="1916"/>
                  </a:cubicBezTo>
                  <a:cubicBezTo>
                    <a:pt x="5587" y="1916"/>
                    <a:pt x="5671" y="1857"/>
                    <a:pt x="5671" y="1765"/>
                  </a:cubicBezTo>
                  <a:lnTo>
                    <a:pt x="5671" y="347"/>
                  </a:lnTo>
                  <a:cubicBezTo>
                    <a:pt x="5671" y="158"/>
                    <a:pt x="5514" y="1"/>
                    <a:pt x="53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9" name="Google Shape;509;p44"/>
          <p:cNvSpPr txBox="1"/>
          <p:nvPr/>
        </p:nvSpPr>
        <p:spPr>
          <a:xfrm>
            <a:off x="713224" y="1187974"/>
            <a:ext cx="6969369" cy="177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1600" dirty="0"/>
              <a:t>• AES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algoritma</a:t>
            </a:r>
            <a:r>
              <a:rPr lang="en-ID" sz="1600" dirty="0"/>
              <a:t> </a:t>
            </a:r>
            <a:r>
              <a:rPr lang="en-ID" sz="1600" dirty="0" err="1"/>
              <a:t>enkripsi</a:t>
            </a:r>
            <a:r>
              <a:rPr lang="en-ID" sz="1600" dirty="0"/>
              <a:t> </a:t>
            </a:r>
            <a:r>
              <a:rPr lang="en-ID" sz="1600" dirty="0" err="1"/>
              <a:t>simetris</a:t>
            </a:r>
            <a:r>
              <a:rPr lang="en-ID" sz="1600" dirty="0"/>
              <a:t>.</a:t>
            </a:r>
          </a:p>
          <a:p>
            <a:r>
              <a:rPr lang="en-ID" sz="1600" dirty="0"/>
              <a:t>• </a:t>
            </a:r>
            <a:r>
              <a:rPr lang="en-ID" sz="1600" dirty="0" err="1"/>
              <a:t>Menggunakan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enkripsi</a:t>
            </a:r>
            <a:r>
              <a:rPr lang="en-ID" sz="1600" dirty="0"/>
              <a:t> dan </a:t>
            </a:r>
            <a:r>
              <a:rPr lang="en-ID" sz="1600" dirty="0" err="1"/>
              <a:t>dekripsi</a:t>
            </a:r>
            <a:r>
              <a:rPr lang="en-ID" sz="1600" dirty="0"/>
              <a:t>.</a:t>
            </a:r>
          </a:p>
          <a:p>
            <a:r>
              <a:rPr lang="en-ID" sz="1600" dirty="0"/>
              <a:t>• Aman, </a:t>
            </a:r>
            <a:r>
              <a:rPr lang="en-ID" sz="1600" dirty="0" err="1"/>
              <a:t>cepat</a:t>
            </a:r>
            <a:r>
              <a:rPr lang="en-ID" sz="1600" dirty="0"/>
              <a:t>, dan </a:t>
            </a:r>
            <a:r>
              <a:rPr lang="en-ID" sz="1600" dirty="0" err="1"/>
              <a:t>banyak</a:t>
            </a:r>
            <a:r>
              <a:rPr lang="en-ID" sz="1600" dirty="0"/>
              <a:t> </a:t>
            </a:r>
            <a:r>
              <a:rPr lang="en-ID" sz="1600" dirty="0" err="1"/>
              <a:t>digunakan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sistem</a:t>
            </a:r>
            <a:r>
              <a:rPr lang="en-ID" sz="1600" dirty="0"/>
              <a:t> modern.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1D644-016A-68A2-BC99-1B2F009C4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22" y="934882"/>
            <a:ext cx="7704000" cy="572700"/>
          </a:xfrm>
        </p:spPr>
        <p:txBody>
          <a:bodyPr/>
          <a:lstStyle/>
          <a:p>
            <a:r>
              <a:rPr lang="en-ID" dirty="0" err="1"/>
              <a:t>Tahapan</a:t>
            </a:r>
            <a:r>
              <a:rPr lang="en-ID" dirty="0"/>
              <a:t> </a:t>
            </a:r>
            <a:r>
              <a:rPr lang="en-ID" dirty="0" err="1"/>
              <a:t>Enkripsi</a:t>
            </a:r>
            <a:r>
              <a:rPr lang="en-ID" dirty="0"/>
              <a:t> AES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CD29D57-4534-3F8B-95B9-DB1972FEE6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64975" y="1825319"/>
            <a:ext cx="4266353" cy="136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1. </a:t>
            </a:r>
            <a:r>
              <a:rPr lang="en-US" sz="1800" dirty="0" err="1"/>
              <a:t>SubBytes</a:t>
            </a:r>
            <a:endParaRPr lang="en-US" sz="1800" dirty="0"/>
          </a:p>
          <a:p>
            <a:r>
              <a:rPr lang="en-US" sz="1800" dirty="0"/>
              <a:t>2. </a:t>
            </a:r>
            <a:r>
              <a:rPr lang="en-US" sz="1800" dirty="0" err="1"/>
              <a:t>ShiftRows</a:t>
            </a:r>
            <a:endParaRPr lang="en-US" sz="1800" dirty="0"/>
          </a:p>
          <a:p>
            <a:r>
              <a:rPr lang="en-US" sz="1800" dirty="0"/>
              <a:t>3. </a:t>
            </a:r>
            <a:r>
              <a:rPr lang="en-US" sz="1800" dirty="0" err="1"/>
              <a:t>MixColumns</a:t>
            </a:r>
            <a:endParaRPr lang="en-US" sz="1800" dirty="0"/>
          </a:p>
          <a:p>
            <a:r>
              <a:rPr lang="en-US" sz="1800" dirty="0"/>
              <a:t>4. </a:t>
            </a:r>
            <a:r>
              <a:rPr lang="en-US" sz="1800" dirty="0" err="1"/>
              <a:t>AddRoundKey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09792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C4F09-4F1F-21CA-0DC6-7C1E45900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Integrasi Priority Queue + AES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75D1D-9747-3938-9B28-B99DC38D7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800" dirty="0"/>
              <a:t>• Priority Queue </a:t>
            </a:r>
            <a:r>
              <a:rPr lang="en-ID" sz="1800" dirty="0" err="1"/>
              <a:t>mengatur</a:t>
            </a:r>
            <a:r>
              <a:rPr lang="en-ID" sz="1800" dirty="0"/>
              <a:t> </a:t>
            </a:r>
            <a:r>
              <a:rPr lang="en-ID" sz="1800" dirty="0" err="1"/>
              <a:t>urutan</a:t>
            </a:r>
            <a:r>
              <a:rPr lang="en-ID" sz="1800" dirty="0"/>
              <a:t> </a:t>
            </a:r>
            <a:r>
              <a:rPr lang="en-ID" sz="1800" dirty="0" err="1"/>
              <a:t>pelayanan</a:t>
            </a:r>
            <a:r>
              <a:rPr lang="en-ID" sz="1800" dirty="0"/>
              <a:t>.</a:t>
            </a:r>
          </a:p>
          <a:p>
            <a:r>
              <a:rPr lang="en-ID" sz="1800" dirty="0"/>
              <a:t>• AES </a:t>
            </a:r>
            <a:r>
              <a:rPr lang="en-ID" sz="1800" dirty="0" err="1"/>
              <a:t>mengamankan</a:t>
            </a:r>
            <a:r>
              <a:rPr lang="en-ID" sz="1800" dirty="0"/>
              <a:t> data </a:t>
            </a:r>
            <a:r>
              <a:rPr lang="en-ID" sz="1800" dirty="0" err="1"/>
              <a:t>antrian</a:t>
            </a:r>
            <a:r>
              <a:rPr lang="en-ID" sz="1800" dirty="0"/>
              <a:t>.</a:t>
            </a:r>
          </a:p>
          <a:p>
            <a:r>
              <a:rPr lang="en-ID" sz="1800" dirty="0"/>
              <a:t>• </a:t>
            </a:r>
            <a:r>
              <a:rPr lang="en-ID" sz="1800" dirty="0" err="1"/>
              <a:t>Sistem</a:t>
            </a:r>
            <a:r>
              <a:rPr lang="en-ID" sz="1800" dirty="0"/>
              <a:t> </a:t>
            </a:r>
            <a:r>
              <a:rPr lang="en-ID" sz="1800" dirty="0" err="1"/>
              <a:t>menjadi</a:t>
            </a:r>
            <a:r>
              <a:rPr lang="en-ID" sz="1800" dirty="0"/>
              <a:t> </a:t>
            </a:r>
            <a:r>
              <a:rPr lang="en-ID" sz="1800" dirty="0" err="1"/>
              <a:t>efisien</a:t>
            </a:r>
            <a:r>
              <a:rPr lang="en-ID" sz="1800" dirty="0"/>
              <a:t> dan </a:t>
            </a:r>
            <a:r>
              <a:rPr lang="en-ID" sz="1800" dirty="0" err="1"/>
              <a:t>aman</a:t>
            </a:r>
            <a:r>
              <a:rPr lang="en-ID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6610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1176C-58A6-E481-419C-1CD946E5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sz="3600" dirty="0"/>
              <a:t>Manfaat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3AB89-0CFD-DF87-A3B4-364BE21EC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800" dirty="0"/>
              <a:t>• Waktu </a:t>
            </a:r>
            <a:r>
              <a:rPr lang="en-ID" sz="1800" dirty="0" err="1"/>
              <a:t>pelayanan</a:t>
            </a:r>
            <a:r>
              <a:rPr lang="en-ID" sz="1800" dirty="0"/>
              <a:t> </a:t>
            </a:r>
            <a:r>
              <a:rPr lang="en-ID" sz="1800" dirty="0" err="1"/>
              <a:t>lebih</a:t>
            </a:r>
            <a:r>
              <a:rPr lang="en-ID" sz="1800" dirty="0"/>
              <a:t> </a:t>
            </a:r>
            <a:r>
              <a:rPr lang="en-ID" sz="1800" dirty="0" err="1"/>
              <a:t>cepat</a:t>
            </a:r>
            <a:r>
              <a:rPr lang="en-ID" sz="1800" dirty="0"/>
              <a:t>.</a:t>
            </a:r>
          </a:p>
          <a:p>
            <a:r>
              <a:rPr lang="en-ID" sz="1800" dirty="0"/>
              <a:t>• </a:t>
            </a:r>
            <a:r>
              <a:rPr lang="en-ID" sz="1800" dirty="0" err="1"/>
              <a:t>Sistem</a:t>
            </a:r>
            <a:r>
              <a:rPr lang="en-ID" sz="1800" dirty="0"/>
              <a:t> </a:t>
            </a:r>
            <a:r>
              <a:rPr lang="en-ID" sz="1800" dirty="0" err="1"/>
              <a:t>lebih</a:t>
            </a:r>
            <a:r>
              <a:rPr lang="en-ID" sz="1800" dirty="0"/>
              <a:t> </a:t>
            </a:r>
            <a:r>
              <a:rPr lang="en-ID" sz="1800" dirty="0" err="1"/>
              <a:t>adil</a:t>
            </a:r>
            <a:r>
              <a:rPr lang="en-ID" sz="1800" dirty="0"/>
              <a:t> dan </a:t>
            </a:r>
            <a:r>
              <a:rPr lang="en-ID" sz="1800" dirty="0" err="1"/>
              <a:t>terstruktur</a:t>
            </a:r>
            <a:r>
              <a:rPr lang="en-ID" sz="1800" dirty="0"/>
              <a:t>.</a:t>
            </a:r>
          </a:p>
          <a:p>
            <a:r>
              <a:rPr lang="en-ID" sz="1800" dirty="0"/>
              <a:t>• Data </a:t>
            </a:r>
            <a:r>
              <a:rPr lang="en-ID" sz="1800" dirty="0" err="1"/>
              <a:t>pengguna</a:t>
            </a:r>
            <a:r>
              <a:rPr lang="en-ID" sz="1800" dirty="0"/>
              <a:t> </a:t>
            </a:r>
            <a:r>
              <a:rPr lang="en-ID" sz="1800" dirty="0" err="1"/>
              <a:t>tetap</a:t>
            </a:r>
            <a:r>
              <a:rPr lang="en-ID" sz="1800" dirty="0"/>
              <a:t> </a:t>
            </a:r>
            <a:r>
              <a:rPr lang="en-ID" sz="1800" dirty="0" err="1"/>
              <a:t>terlindungi</a:t>
            </a:r>
            <a:r>
              <a:rPr lang="en-ID" sz="1800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20295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D7A97-9075-E8AE-00DF-EA84F15D0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522" y="574625"/>
            <a:ext cx="7704000" cy="572700"/>
          </a:xfrm>
        </p:spPr>
        <p:txBody>
          <a:bodyPr/>
          <a:lstStyle/>
          <a:p>
            <a:r>
              <a:rPr lang="en-ID" dirty="0"/>
              <a:t>Hasil Studi </a:t>
            </a:r>
            <a:r>
              <a:rPr lang="en-ID" dirty="0" err="1"/>
              <a:t>Literatur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A69D0-814D-67D4-7E3A-03673D17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sz="1800" dirty="0"/>
          </a:p>
          <a:p>
            <a:r>
              <a:rPr lang="en-ID" sz="1800" dirty="0"/>
              <a:t>• Priority Queue </a:t>
            </a:r>
            <a:r>
              <a:rPr lang="en-ID" sz="1800" dirty="0" err="1"/>
              <a:t>mampu</a:t>
            </a:r>
            <a:r>
              <a:rPr lang="en-ID" sz="1800" dirty="0"/>
              <a:t> </a:t>
            </a:r>
            <a:r>
              <a:rPr lang="en-ID" sz="1800" dirty="0" err="1"/>
              <a:t>mengurangi</a:t>
            </a:r>
            <a:r>
              <a:rPr lang="en-ID" sz="1800" dirty="0"/>
              <a:t> </a:t>
            </a:r>
            <a:r>
              <a:rPr lang="en-ID" sz="1800" dirty="0" err="1"/>
              <a:t>waktu</a:t>
            </a:r>
            <a:r>
              <a:rPr lang="en-ID" sz="1800" dirty="0"/>
              <a:t> </a:t>
            </a:r>
            <a:r>
              <a:rPr lang="en-ID" sz="1800" dirty="0" err="1"/>
              <a:t>tunggu</a:t>
            </a:r>
            <a:r>
              <a:rPr lang="en-ID" sz="1800" dirty="0"/>
              <a:t>.</a:t>
            </a:r>
          </a:p>
          <a:p>
            <a:r>
              <a:rPr lang="en-ID" sz="1800" dirty="0"/>
              <a:t>• AES </a:t>
            </a:r>
            <a:r>
              <a:rPr lang="en-ID" sz="1800" dirty="0" err="1"/>
              <a:t>menjaga</a:t>
            </a:r>
            <a:r>
              <a:rPr lang="en-ID" sz="1800" dirty="0"/>
              <a:t> </a:t>
            </a:r>
            <a:r>
              <a:rPr lang="en-ID" sz="1800" dirty="0" err="1"/>
              <a:t>keamanan</a:t>
            </a:r>
            <a:r>
              <a:rPr lang="en-ID" sz="1800" dirty="0"/>
              <a:t> </a:t>
            </a:r>
            <a:r>
              <a:rPr lang="en-ID" sz="1800" dirty="0" err="1"/>
              <a:t>tanpa</a:t>
            </a:r>
            <a:r>
              <a:rPr lang="en-ID" sz="1800" dirty="0"/>
              <a:t> </a:t>
            </a:r>
            <a:r>
              <a:rPr lang="en-ID" sz="1800" dirty="0" err="1"/>
              <a:t>mengurangi</a:t>
            </a:r>
            <a:r>
              <a:rPr lang="en-ID" sz="1800" dirty="0"/>
              <a:t> </a:t>
            </a:r>
            <a:r>
              <a:rPr lang="en-ID" sz="1800" dirty="0" err="1"/>
              <a:t>performa</a:t>
            </a:r>
            <a:r>
              <a:rPr lang="en-ID" sz="1800" dirty="0"/>
              <a:t>.</a:t>
            </a:r>
          </a:p>
          <a:p>
            <a:r>
              <a:rPr lang="en-ID" sz="1800" dirty="0"/>
              <a:t>• Integrasi </a:t>
            </a:r>
            <a:r>
              <a:rPr lang="en-ID" sz="1800" dirty="0" err="1"/>
              <a:t>keduanya</a:t>
            </a:r>
            <a:r>
              <a:rPr lang="en-ID" sz="1800" dirty="0"/>
              <a:t> </a:t>
            </a:r>
            <a:r>
              <a:rPr lang="en-ID" sz="1800" dirty="0" err="1"/>
              <a:t>efektif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pelayanan</a:t>
            </a:r>
            <a:r>
              <a:rPr lang="en-ID" sz="1800" dirty="0"/>
              <a:t> </a:t>
            </a:r>
            <a:r>
              <a:rPr lang="en-ID" sz="1800" dirty="0" err="1"/>
              <a:t>publik</a:t>
            </a:r>
            <a:r>
              <a:rPr lang="en-ID" sz="1800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29780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8ED98-B787-B712-3392-21DEBA15C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0" y="579775"/>
            <a:ext cx="7704000" cy="572700"/>
          </a:xfrm>
        </p:spPr>
        <p:txBody>
          <a:bodyPr/>
          <a:lstStyle/>
          <a:p>
            <a:r>
              <a:rPr lang="en-ID" dirty="0"/>
              <a:t>Kesimpulan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30A5F-A780-CE66-038A-BD09CF71D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sz="1800" dirty="0"/>
          </a:p>
          <a:p>
            <a:r>
              <a:rPr lang="en-ID" sz="1800" dirty="0" err="1"/>
              <a:t>Sistem</a:t>
            </a:r>
            <a:r>
              <a:rPr lang="en-ID" sz="1800" dirty="0"/>
              <a:t> </a:t>
            </a:r>
            <a:r>
              <a:rPr lang="en-ID" sz="1800" dirty="0" err="1"/>
              <a:t>antrian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dioptimalkan</a:t>
            </a:r>
            <a:r>
              <a:rPr lang="en-ID" sz="1800" dirty="0"/>
              <a:t> </a:t>
            </a:r>
            <a:r>
              <a:rPr lang="en-ID" sz="1800" dirty="0" err="1"/>
              <a:t>menggunakan</a:t>
            </a:r>
            <a:r>
              <a:rPr lang="en-ID" sz="1800" dirty="0"/>
              <a:t> Priority Queue.</a:t>
            </a:r>
          </a:p>
          <a:p>
            <a:r>
              <a:rPr lang="en-ID" sz="1800" dirty="0"/>
              <a:t>• AES </a:t>
            </a:r>
            <a:r>
              <a:rPr lang="en-ID" sz="1800" dirty="0" err="1"/>
              <a:t>memberikan</a:t>
            </a:r>
            <a:r>
              <a:rPr lang="en-ID" sz="1800" dirty="0"/>
              <a:t> </a:t>
            </a:r>
            <a:r>
              <a:rPr lang="en-ID" sz="1800" dirty="0" err="1"/>
              <a:t>perlindungan</a:t>
            </a:r>
            <a:r>
              <a:rPr lang="en-ID" sz="1800" dirty="0"/>
              <a:t> </a:t>
            </a:r>
            <a:r>
              <a:rPr lang="en-ID" sz="1800" dirty="0" err="1"/>
              <a:t>keamanan</a:t>
            </a:r>
            <a:r>
              <a:rPr lang="en-ID" sz="1800" dirty="0"/>
              <a:t> data.</a:t>
            </a:r>
          </a:p>
          <a:p>
            <a:r>
              <a:rPr lang="en-ID" sz="1800" dirty="0"/>
              <a:t>• Integrasi </a:t>
            </a:r>
            <a:r>
              <a:rPr lang="en-ID" sz="1800" dirty="0" err="1"/>
              <a:t>keduanya</a:t>
            </a:r>
            <a:r>
              <a:rPr lang="en-ID" sz="1800" dirty="0"/>
              <a:t> </a:t>
            </a:r>
            <a:r>
              <a:rPr lang="en-ID" sz="1800" dirty="0" err="1"/>
              <a:t>menciptakan</a:t>
            </a:r>
            <a:r>
              <a:rPr lang="en-ID" sz="1800" dirty="0"/>
              <a:t> </a:t>
            </a:r>
            <a:r>
              <a:rPr lang="en-ID" sz="1800" dirty="0" err="1"/>
              <a:t>pelayanan</a:t>
            </a:r>
            <a:r>
              <a:rPr lang="en-ID" sz="1800" dirty="0"/>
              <a:t> yang </a:t>
            </a:r>
            <a:r>
              <a:rPr lang="en-ID" sz="1800" dirty="0" err="1"/>
              <a:t>cepat</a:t>
            </a:r>
            <a:r>
              <a:rPr lang="en-ID" sz="1800" dirty="0"/>
              <a:t>, </a:t>
            </a:r>
            <a:r>
              <a:rPr lang="en-ID" sz="1800" dirty="0" err="1"/>
              <a:t>adil</a:t>
            </a:r>
            <a:r>
              <a:rPr lang="en-ID" sz="1800" dirty="0"/>
              <a:t>, dan </a:t>
            </a:r>
            <a:r>
              <a:rPr lang="en-ID" sz="1800" dirty="0" err="1"/>
              <a:t>aman</a:t>
            </a:r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1561228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CD09-1E59-E6A9-1A39-4D7EAEB0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593" y="574625"/>
            <a:ext cx="7704000" cy="572700"/>
          </a:xfrm>
        </p:spPr>
        <p:txBody>
          <a:bodyPr/>
          <a:lstStyle/>
          <a:p>
            <a:r>
              <a:rPr lang="en-ID" dirty="0"/>
              <a:t>Daftar Pustaka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9A3EF-26E2-7F62-4C3A-F2FB8E5EC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1.Rahman, T., &amp; Kurniawan, D. (2023). </a:t>
            </a:r>
            <a:r>
              <a:rPr lang="en-ID" i="1" dirty="0"/>
              <a:t>Implementation of Priority Queue Algorithm in Hospital Queuing System for Reducing Waiting Time</a:t>
            </a:r>
            <a:r>
              <a:rPr lang="en-ID" dirty="0"/>
              <a:t>. Journal of Information System Technology, 12(2), 88–97.</a:t>
            </a:r>
          </a:p>
          <a:p>
            <a:endParaRPr lang="en-ID" dirty="0"/>
          </a:p>
          <a:p>
            <a:r>
              <a:rPr lang="en-ID" dirty="0"/>
              <a:t>2.Sari, L., &amp; Nugroho, A. (2022). </a:t>
            </a:r>
            <a:r>
              <a:rPr lang="en-ID" i="1" dirty="0"/>
              <a:t>Data Security in Web-Based Public Service Systems Using AES Encryption</a:t>
            </a:r>
            <a:r>
              <a:rPr lang="en-ID" dirty="0"/>
              <a:t>. Indonesian Journal of Informatics, 8(1), 45–53.</a:t>
            </a:r>
          </a:p>
          <a:p>
            <a:endParaRPr lang="en-ID" dirty="0"/>
          </a:p>
          <a:p>
            <a:r>
              <a:rPr lang="en-ID" dirty="0"/>
              <a:t>3.Yuliani, R., Santoso, P., &amp; Hidayat, R. (2024). </a:t>
            </a:r>
            <a:r>
              <a:rPr lang="en-ID" i="1" dirty="0"/>
              <a:t>Integration of Priority Queue and AES Encryption for Secure and Efficient Queue Management Systems</a:t>
            </a:r>
            <a:r>
              <a:rPr lang="en-ID" dirty="0"/>
              <a:t>. International Journal of Computer Applications, 18(4), 102–111.</a:t>
            </a:r>
          </a:p>
          <a:p>
            <a:endParaRPr lang="en-ID" dirty="0"/>
          </a:p>
          <a:p>
            <a:r>
              <a:rPr lang="en-ID" dirty="0"/>
              <a:t>4.Zhang, Q., &amp; Lee, J. (2021). </a:t>
            </a:r>
            <a:r>
              <a:rPr lang="en-ID" i="1" dirty="0"/>
              <a:t>Performance Analysis of AES Encryption Algorithms in Real-Time Systems</a:t>
            </a:r>
            <a:r>
              <a:rPr lang="en-ID" dirty="0"/>
              <a:t>. IEEE Access, 9, 7803–7815.</a:t>
            </a:r>
          </a:p>
        </p:txBody>
      </p:sp>
    </p:spTree>
    <p:extLst>
      <p:ext uri="{BB962C8B-B14F-4D97-AF65-F5344CB8AC3E}">
        <p14:creationId xmlns:p14="http://schemas.microsoft.com/office/powerpoint/2010/main" val="1723821037"/>
      </p:ext>
    </p:extLst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560</Words>
  <Application>Microsoft Office PowerPoint</Application>
  <PresentationFormat>On-screen Show (16:9)</PresentationFormat>
  <Paragraphs>75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VT323</vt:lpstr>
      <vt:lpstr>Roboto Mono</vt:lpstr>
      <vt:lpstr>Calibri</vt:lpstr>
      <vt:lpstr>Arial</vt:lpstr>
      <vt:lpstr>Raleway</vt:lpstr>
      <vt:lpstr>Darker Grotesque SemiBold</vt:lpstr>
      <vt:lpstr>Inter</vt:lpstr>
      <vt:lpstr>My Presentation Template</vt:lpstr>
      <vt:lpstr>Slidesgo Final Pages</vt:lpstr>
      <vt:lpstr>Optimasi Waktu Antrian Pelayanan Publik Menggunakan Algoritma Priority Queue dengan Penerapan Kriptografi untuk Keamanan Data</vt:lpstr>
      <vt:lpstr>Latar Belakang</vt:lpstr>
      <vt:lpstr>Rumusan Masalah</vt:lpstr>
      <vt:lpstr>   Tujuan</vt:lpstr>
      <vt:lpstr>Konsep Sistem Antrian Publik</vt:lpstr>
      <vt:lpstr>  Apa itu Priority Queue?</vt:lpstr>
      <vt:lpstr> Contoh Penerapan Priority Queue</vt:lpstr>
      <vt:lpstr>Algoritma Priority Queue</vt:lpstr>
      <vt:lpstr>Permasalahan Keamanan Data</vt:lpstr>
      <vt:lpstr>Kriptografi AES</vt:lpstr>
      <vt:lpstr>Tahapan Enkripsi AES</vt:lpstr>
      <vt:lpstr>Integrasi Priority Queue + AES</vt:lpstr>
      <vt:lpstr>Manfaat</vt:lpstr>
      <vt:lpstr>Hasil Studi Literatur</vt:lpstr>
      <vt:lpstr>Kesimpulan</vt:lpstr>
      <vt:lpstr>Daftar Pustaka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Fandi Fajar Maulana</dc:creator>
  <cp:lastModifiedBy>Fandi Fajar Maulana</cp:lastModifiedBy>
  <cp:revision>8</cp:revision>
  <dcterms:modified xsi:type="dcterms:W3CDTF">2025-11-06T10:26:19Z</dcterms:modified>
</cp:coreProperties>
</file>